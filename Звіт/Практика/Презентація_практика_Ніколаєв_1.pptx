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72991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023360"/>
            <a:ext cx="9144000" cy="36576"/>
          </a:xfrm>
          <a:prstGeom prst="rect">
            <a:avLst/>
          </a:prstGeom>
          <a:solidFill>
            <a:srgbClr val="1C7293">
              <a:alpha val="50000"/>
            </a:srgbClr>
          </a:solidFill>
          <a:ln/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37160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Розробка та програмна реалізація алгоритму оптимізації розподілу вантажів</a:t>
            </a:r>
            <a:endParaRPr lang="en-US" sz="2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у транспортній мережі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548640" y="31089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Переддипломна виробнича практика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4206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Студент: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Ніколаєв Тимур</a:t>
            </a: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Група: </a:t>
            </a: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4-КН-22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4663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УДУНТ · ННІ УДХТУ · Кафедра інформаційних систем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Об'єкт, предмет та мета роботи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097280"/>
            <a:ext cx="73152" cy="10515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2801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139903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Об'єкт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737360" y="155448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 розподілу та доставки вантажів у мультимодальній транспортній мережі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2377440"/>
            <a:ext cx="73152" cy="10515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Shape 8"/>
          <p:cNvSpPr/>
          <p:nvPr/>
        </p:nvSpPr>
        <p:spPr>
          <a:xfrm>
            <a:off x="868680" y="25603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267919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737360" y="2468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Предмет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1737360" y="283464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Математичні моделі та еволюційні алгоритми маршрутизації транспортних засобів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48640" y="365760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48640" y="3657600"/>
            <a:ext cx="73152" cy="10515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7" name="Shape 13"/>
          <p:cNvSpPr/>
          <p:nvPr/>
        </p:nvSpPr>
        <p:spPr>
          <a:xfrm>
            <a:off x="868680" y="384048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7552" y="3959352"/>
            <a:ext cx="402336" cy="40233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737360" y="37490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Мета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737360" y="4114800"/>
            <a:ext cx="658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та програмна реалізація алгоритму оптимізації маршрутів доставки для мінімізації сумарного часу переїздів та кількості задіяних ТЗ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2560320" cy="25603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3" name="Text 18"/>
          <p:cNvSpPr/>
          <p:nvPr/>
        </p:nvSpPr>
        <p:spPr>
          <a:xfrm>
            <a:off x="548640" y="4892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Теорія графів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3383280" y="4892040"/>
            <a:ext cx="2560320" cy="25603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5" name="Text 20"/>
          <p:cNvSpPr/>
          <p:nvPr/>
        </p:nvSpPr>
        <p:spPr>
          <a:xfrm>
            <a:off x="3383280" y="4892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Математичне моделювання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217920" y="4892040"/>
            <a:ext cx="2560320" cy="25603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7" name="Text 22"/>
          <p:cNvSpPr/>
          <p:nvPr/>
        </p:nvSpPr>
        <p:spPr>
          <a:xfrm>
            <a:off x="6217920" y="4892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Генетичні алгоритми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Актуальність дослідження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3108960"/>
          </a:xfrm>
          <a:prstGeom prst="rect">
            <a:avLst/>
          </a:prstGeom>
          <a:solidFill>
            <a:srgbClr val="F0F7F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71600" y="146304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64592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Економічна ефективність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31520" y="31089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Витрати на логістику — до 17% вартості доставки. Оптимізація маршрутів дає значну економію палива та ресурсів.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83280" y="1188720"/>
            <a:ext cx="2560320" cy="3108960"/>
          </a:xfrm>
          <a:prstGeom prst="rect">
            <a:avLst/>
          </a:prstGeom>
          <a:solidFill>
            <a:srgbClr val="F0F7F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206240" y="146304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645920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66160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Динамічність середовища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3566160" y="31089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Часові вікна (VRPTW), обмеження вантажності, затори — потрібна адаптація в реальному часі.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1188720"/>
            <a:ext cx="2560320" cy="3108960"/>
          </a:xfrm>
          <a:prstGeom prst="rect">
            <a:avLst/>
          </a:prstGeom>
          <a:solidFill>
            <a:srgbClr val="F0F7F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040880" y="1463040"/>
            <a:ext cx="914400" cy="91440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0" y="1645920"/>
            <a:ext cx="548640" cy="5486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00800" y="25603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Генетичні алгоритми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6400800" y="310896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Класичні евристики застрягають у локальних оптимумах. </a:t>
            </a:r>
            <a:r>
              <a:rPr lang="uk-UA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Генетичні алгоритми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ефективно досліджують простір NP-складних задач.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548640" y="448056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 належить до NP-складних задач — точне розв'язання неможливе за прийнятний час для реальних масштабів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Завдання роботи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43000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10515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Вивчити предметну область, структуру та принципи функціонування об'єкта дослідження</a:t>
            </a:r>
            <a:endParaRPr lang="en-US" sz="13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828800"/>
            <a:ext cx="320040" cy="3200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05840" y="17373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Провести аналіз сучасних підходів та аналогів програмних продуктів для вирішення задач маршрутизації</a:t>
            </a:r>
            <a:endParaRPr lang="en-US" sz="13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514600"/>
            <a:ext cx="320040" cy="3200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05840" y="24231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Формалізувати транспортну мережу як мультимодальний зважений орієнтований граф</a:t>
            </a:r>
            <a:endParaRPr lang="en-US" sz="13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00400"/>
            <a:ext cx="320040" cy="32004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005840" y="31089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Розробити математичну модель задачі оптимізації з урахуванням обмежень місткості та часових вікон</a:t>
            </a:r>
            <a:endParaRPr lang="en-US" sz="13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86200"/>
            <a:ext cx="320040" cy="32004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005840" y="379476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Реалізувати програмний модуль на основі розробленої моделі та провести його тестування на реальних даних</a:t>
            </a:r>
            <a:endParaRPr lang="en-US" sz="1300" dirty="0"/>
          </a:p>
        </p:txBody>
      </p:sp>
      <p:sp>
        <p:nvSpPr>
          <p:cNvPr id="13" name="Shape 6"/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solidFill>
            <a:srgbClr val="F0F7FA"/>
          </a:solidFill>
          <a:ln/>
        </p:spPr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636008"/>
            <a:ext cx="274320" cy="274320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1051560" y="45720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Практичне значення: автоматизована побудова маршрутів для логістичних компаній — скорочення витрат та підвищення якості обслуговування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Постановка задачі 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Цільова функція. </a:t>
            </a:r>
            <a:r>
              <a:rPr lang="en-US" sz="13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Мінімізація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сумарних витрат: час переїздів + кількість </a:t>
            </a:r>
            <a:r>
              <a:rPr lang="en-US" sz="13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задіяних</a:t>
            </a: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транспортних засобів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8046720" cy="2220686"/>
          </a:xfrm>
          <a:prstGeom prst="rect">
            <a:avLst/>
          </a:prstGeom>
          <a:solidFill>
            <a:srgbClr val="F0F7FA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97280" y="1417319"/>
            <a:ext cx="6858000" cy="203650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546566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Обмеження моделі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4050792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4050792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960120" y="40233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Місткість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194560" y="402336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Сумарна вага вантажів у кожному ТЗ ≤ ліміт Q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40080" y="4379976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4379976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960120" y="435254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Часові вікна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2194560" y="435254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Прибуття у вузол i в межах [eᵢ, lᵢ]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4709160"/>
            <a:ext cx="201168" cy="20116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470916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60120" y="46817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Зв'язність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194560" y="468172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клієнт відвіданий рівно один раз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Проєктування системи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Об'єктно-орієнтований підхід (Python) · CASE-засіб PlantUML · Стандарти UML</a:t>
            </a:r>
            <a:endParaRPr lang="en-US" sz="1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13716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класів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40080" y="1828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(Streamlit) — центральний контролер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GraphBuilder — побудова графа з OSMnx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40080" y="2468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VRPSolver — генетичний алгоритм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2788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Models — DeliveryStop, Vehicle, LegInfo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108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PackageDB — база замовлень</a:t>
            </a:r>
            <a:endParaRPr lang="en-US" sz="110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137160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21208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послідовностей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4846320" y="18288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Геокодування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4846320" y="2148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 мережі OSM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846320" y="2468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Прив'язка точок до вузлів графа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846320" y="2788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Розрахунок матриць часових витрат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4846320" y="31089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Оптимізація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r>
              <a:rPr lang="uk-UA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Генетичний алгоритм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та візуалізація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48640" y="3566160"/>
            <a:ext cx="8046720" cy="36576"/>
          </a:xfrm>
          <a:prstGeom prst="rect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21" name="Text 17"/>
          <p:cNvSpPr/>
          <p:nvPr/>
        </p:nvSpPr>
        <p:spPr>
          <a:xfrm>
            <a:off x="54864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224028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393192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OSMnx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562356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PlantUML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7315200" y="41605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Nominatim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класів системи</a:t>
            </a:r>
            <a:endParaRPr lang="en-US" sz="2200" dirty="0"/>
          </a:p>
        </p:txBody>
      </p:sp>
      <p:pic>
        <p:nvPicPr>
          <p:cNvPr id="5" name="Picture 4" descr="A computer screen with blue text&#10;&#10;AI-generated content may be incorrect.">
            <a:extLst>
              <a:ext uri="{FF2B5EF4-FFF2-40B4-BE49-F238E27FC236}">
                <a16:creationId xmlns:a16="http://schemas.microsoft.com/office/drawing/2014/main" id="{535BB2F0-2029-60B3-1F23-2BF27505BF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81814"/>
            <a:ext cx="9144000" cy="47888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послідовностей — Частина 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Ініціалізація, отримання вхідних даних та запуск оптимізації</a:t>
            </a:r>
            <a:endParaRPr lang="en-US" sz="1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86000" y="868680"/>
            <a:ext cx="45720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Діаграма послідовностей — Частина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Оптимізація маршруту та відображення результатів</a:t>
            </a:r>
            <a:endParaRPr lang="en-US" sz="1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286000" y="868680"/>
            <a:ext cx="45720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Генетичний алгоритм: етапи роботи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109728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960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Ініціалізація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783080" y="96012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хромосом: 1 жадібна (найбл. сусід) + 49 випадкових. Кодування: giant tour.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846320" y="960120"/>
            <a:ext cx="109728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4846320" y="960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846320" y="15544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Декодування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080760" y="96012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Split-декодер: хромосома → фізичні маршрути ТЗ з </a:t>
            </a:r>
            <a:r>
              <a:rPr lang="en-US" sz="11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перевіркою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uk-UA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завантаження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286000"/>
            <a:ext cx="1097280" cy="10972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2860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48640" y="2880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Fitness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783080" y="228600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A·T_total + B·K + P·|U| — штраф за нерозподілених клієнтів.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2286000"/>
            <a:ext cx="1097280" cy="1097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22860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846320" y="28803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Селекція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080760" y="228600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Турнірний метод (k=3) + елітизм (2 найкращі копіюються без змін).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611880"/>
            <a:ext cx="1097280" cy="1097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3611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48640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Схрещування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783080" y="361188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 crossover (85%) — сегмент від батька 1, решта від батька 2 по порядку.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846320" y="3611880"/>
            <a:ext cx="1097280" cy="109728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/>
          <p:nvPr/>
        </p:nvSpPr>
        <p:spPr>
          <a:xfrm>
            <a:off x="4846320" y="3611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846320" y="4206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Мутація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080760" y="3611880"/>
            <a:ext cx="2788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mutation (15%) — обмін двох випадкових генів для різноманіття.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поколінь → найкраща хромосома → візуалізація маршрутів на карті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Архітектура системи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48640" y="1005840"/>
            <a:ext cx="2560320" cy="54864"/>
          </a:xfrm>
          <a:prstGeom prst="rect">
            <a:avLst/>
          </a:prstGeom>
          <a:solidFill>
            <a:srgbClr val="0B1D3A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2801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280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App (Streamlit)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Центральний контролер UI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83280" y="100584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383280" y="1005840"/>
            <a:ext cx="2560320" cy="54864"/>
          </a:xfrm>
          <a:prstGeom prst="rect">
            <a:avLst/>
          </a:prstGeom>
          <a:solidFill>
            <a:srgbClr val="065A82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12801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69080" y="1280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GraphBuilder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61188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Побудова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графа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100584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217920" y="1005840"/>
            <a:ext cx="2560320" cy="54864"/>
          </a:xfrm>
          <a:prstGeom prst="rect">
            <a:avLst/>
          </a:prstGeom>
          <a:solidFill>
            <a:srgbClr val="1C7293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28016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03720" y="1280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VRPSolver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6446520" y="18288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Генетичний алгоритм (GA)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297180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548640" y="2971800"/>
            <a:ext cx="2560320" cy="54864"/>
          </a:xfrm>
          <a:prstGeom prst="rect">
            <a:avLst/>
          </a:prstGeom>
          <a:solidFill>
            <a:srgbClr val="14B8A6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4612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3444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Models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77724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DeliveryStop, Vehicle,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LegInfo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3383280" y="297180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3383280" y="2971800"/>
            <a:ext cx="2560320" cy="54864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1880" y="3246120"/>
            <a:ext cx="365760" cy="36576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6908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PackageDB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361188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замовлень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/ CSV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217920" y="2971800"/>
            <a:ext cx="2560320" cy="16916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217920" y="297180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3246120"/>
            <a:ext cx="365760" cy="36576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0372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Visualizer</a:t>
            </a:r>
            <a:endParaRPr lang="en-US" sz="1300" dirty="0"/>
          </a:p>
        </p:txBody>
      </p:sp>
      <p:sp>
        <p:nvSpPr>
          <p:cNvPr id="32" name="Text 24"/>
          <p:cNvSpPr/>
          <p:nvPr/>
        </p:nvSpPr>
        <p:spPr>
          <a:xfrm>
            <a:off x="6446520" y="37947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Інтерактивна карта</a:t>
            </a:r>
            <a:endParaRPr lang="en-US" sz="11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метрики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Інформаційне забезпечення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8046720" cy="777240"/>
          </a:xfrm>
          <a:prstGeom prst="rect">
            <a:avLst/>
          </a:prstGeom>
          <a:solidFill>
            <a:srgbClr val="F0F7FA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51560"/>
            <a:ext cx="73152" cy="77724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Транспортна мережа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Матриці відстаней та часових витрат між вузлами графа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965960"/>
            <a:ext cx="73152" cy="7772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057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Транспортні засоби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331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Місткість, швидкість, графік роботи, часові вікна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8046720" cy="777240"/>
          </a:xfrm>
          <a:prstGeom prst="rect">
            <a:avLst/>
          </a:prstGeom>
          <a:solidFill>
            <a:srgbClr val="F0F7FA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880360"/>
            <a:ext cx="73152" cy="77724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2971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Замовлення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Координати, </a:t>
            </a:r>
            <a:r>
              <a:rPr lang="uk-UA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вага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вантажу, часові вікна клієнтів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3794760"/>
            <a:ext cx="8046720" cy="777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794760"/>
            <a:ext cx="73152" cy="7772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886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Зберігання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/ CSV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48640" y="4572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1D3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Технологічний стек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4028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3" name="Text 21"/>
          <p:cNvSpPr/>
          <p:nvPr/>
        </p:nvSpPr>
        <p:spPr>
          <a:xfrm>
            <a:off x="224028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93192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5" name="Text 23"/>
          <p:cNvSpPr/>
          <p:nvPr/>
        </p:nvSpPr>
        <p:spPr>
          <a:xfrm>
            <a:off x="393192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OSMnx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2356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7" name="Text 25"/>
          <p:cNvSpPr/>
          <p:nvPr/>
        </p:nvSpPr>
        <p:spPr>
          <a:xfrm>
            <a:off x="562356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Nominatim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315200" y="4892040"/>
            <a:ext cx="155448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0" y="48920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JSON/CSV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D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Висновки</a:t>
            </a:r>
            <a:endParaRPr lang="en-US" sz="3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27432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05840" y="1077687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Формалізовано транспортну мережу як мультимодальний зважений орієнтований граф G=(V,E,Φ,Ψ)</a:t>
            </a:r>
            <a:endParaRPr lang="en-US" sz="13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6596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05840" y="1809207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Розроблено математичну модель VRPTW з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обмеженнями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місткості</a:t>
            </a:r>
            <a:r>
              <a:rPr lang="uk-UA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часових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віко</a:t>
            </a:r>
            <a:r>
              <a:rPr lang="uk-UA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</a:t>
            </a:r>
            <a:endParaRPr lang="en-US" sz="13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697480"/>
            <a:ext cx="274320" cy="27432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005840" y="2540727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Реалізовано генетичний алгоритм: </a:t>
            </a:r>
            <a:r>
              <a:rPr lang="en-US" sz="13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популяція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</a:t>
            </a:r>
            <a:r>
              <a:rPr lang="uk-UA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або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150 поколінь, OX crossover (85%), swap mutation (15%)</a:t>
            </a:r>
            <a:endParaRPr lang="en-US" sz="130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42900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005840" y="326898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Спроєктовано модульну архітектуру з використанням ООП та UML (діаграми класів, послідовностей)</a:t>
            </a:r>
            <a:endParaRPr lang="en-US" sz="1300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274320" cy="274320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005840" y="4000500"/>
            <a:ext cx="7589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Практичне значення: автоматизація побудови маршрутів для логістичних компаній</a:t>
            </a:r>
            <a:endParaRPr lang="en-US" sz="1300" dirty="0"/>
          </a:p>
        </p:txBody>
      </p:sp>
      <p:sp>
        <p:nvSpPr>
          <p:cNvPr id="14" name="Text 7"/>
          <p:cNvSpPr/>
          <p:nvPr/>
        </p:nvSpPr>
        <p:spPr>
          <a:xfrm>
            <a:off x="548640" y="45720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Дякую за увагу!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684</Words>
  <Application>Microsoft Office PowerPoint</Application>
  <PresentationFormat>On-screen Show (16:9)</PresentationFormat>
  <Paragraphs>137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Оптимізація розподілу вантажів у транспортній мережі</dc:title>
  <dc:subject>PptxGenJS Presentation</dc:subject>
  <dc:creator>Тимур Ніколаєв</dc:creator>
  <cp:lastModifiedBy>Tymur Nikolaiev</cp:lastModifiedBy>
  <cp:revision>24</cp:revision>
  <dcterms:created xsi:type="dcterms:W3CDTF">2026-05-05T16:48:57Z</dcterms:created>
  <dcterms:modified xsi:type="dcterms:W3CDTF">2026-05-05T17:21:24Z</dcterms:modified>
</cp:coreProperties>
</file>