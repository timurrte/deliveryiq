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9" r:id="rId9"/>
    <p:sldId id="271" r:id="rId10"/>
    <p:sldId id="272" r:id="rId11"/>
    <p:sldId id="275" r:id="rId12"/>
    <p:sldId id="277" r:id="rId13"/>
    <p:sldId id="262" r:id="rId14"/>
    <p:sldId id="278" r:id="rId15"/>
    <p:sldId id="263" r:id="rId16"/>
    <p:sldId id="264" r:id="rId17"/>
    <p:sldId id="265" r:id="rId18"/>
    <p:sldId id="279" r:id="rId19"/>
    <p:sldId id="280" r:id="rId20"/>
    <p:sldId id="281" r:id="rId21"/>
    <p:sldId id="282" r:id="rId22"/>
    <p:sldId id="283" r:id="rId23"/>
    <p:sldId id="284" r:id="rId24"/>
    <p:sldId id="286" r:id="rId25"/>
    <p:sldId id="266" r:id="rId26"/>
    <p:sldId id="267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Trebuchet MS"/>
              </a:rPr>
              <a:t>Розробка та програмна реалізація алгоритму
оптимізації розподілу вантажів у транспортній мережі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4B8A6"/>
                </a:solidFill>
                <a:latin typeface="Calibri"/>
              </a:rPr>
              <a:t>Дипломна робота бакалавра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Студент: Ніколаєв Т. О.  |  Керівник: Зеленцов Д. Г.  |  Група: 4-КН-22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УДУНТ · ННІ УДХТУ · Кафедра інформаційних систем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Об'єкт, предмет та мета роботи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804672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37360" y="116128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A"/>
                </a:solidFill>
                <a:latin typeface="Calibri"/>
              </a:rPr>
              <a:t>Об'єкт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0876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Calibri"/>
              </a:rPr>
              <a:t>Проблема розподілу та доставки вантажів у мультимодальній транспортній мережі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39"/>
            <a:ext cx="804672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148839"/>
            <a:ext cx="54864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212847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A"/>
                </a:solidFill>
                <a:latin typeface="Calibri"/>
              </a:rPr>
              <a:t>Предмет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60320"/>
            <a:ext cx="6675120" cy="269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150" b="0" i="0" dirty="0">
                <a:solidFill>
                  <a:srgbClr val="1E293B"/>
                </a:solidFill>
                <a:latin typeface="Calibri"/>
              </a:rPr>
              <a:t>Математичні моделі та ев</a:t>
            </a:r>
            <a:r>
              <a:rPr lang="uk-UA" sz="1150" b="0" i="0" dirty="0">
                <a:solidFill>
                  <a:srgbClr val="1E293B"/>
                </a:solidFill>
                <a:latin typeface="Calibri"/>
              </a:rPr>
              <a:t>олюційн</a:t>
            </a:r>
            <a:r>
              <a:rPr lang="ru-RU" sz="1150" b="0" i="0" dirty="0">
                <a:solidFill>
                  <a:srgbClr val="1E293B"/>
                </a:solidFill>
                <a:latin typeface="Calibri"/>
              </a:rPr>
              <a:t>і алгоритми в задачах маршрутизації транспортних засобів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804672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54864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37360" y="3264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B1D3A"/>
                </a:solidFill>
                <a:latin typeface="Calibri"/>
              </a:rPr>
              <a:t>Мета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11880"/>
            <a:ext cx="667512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 dirty="0" err="1">
                <a:solidFill>
                  <a:srgbClr val="1E293B"/>
                </a:solidFill>
                <a:latin typeface="Calibri"/>
              </a:rPr>
              <a:t>Розробка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та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програмна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реалізація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алгоритму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оптимізації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маршрутів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доставки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для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мінімізації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сумарного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часу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переїздів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та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кількості</a:t>
            </a:r>
            <a:r>
              <a:rPr sz="11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50" b="0" i="0" dirty="0" err="1">
                <a:solidFill>
                  <a:srgbClr val="1E293B"/>
                </a:solidFill>
                <a:latin typeface="Calibri"/>
              </a:rPr>
              <a:t>задіяних</a:t>
            </a:r>
            <a:r>
              <a:rPr lang="uk-UA" sz="1150" dirty="0">
                <a:solidFill>
                  <a:srgbClr val="1E293B"/>
                </a:solidFill>
                <a:latin typeface="Calibri"/>
              </a:rPr>
              <a:t> транспортних засобів</a:t>
            </a:r>
            <a:endParaRPr sz="11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274320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Теорія графів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4846320"/>
            <a:ext cx="274320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4846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Математичне моделювання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846320"/>
            <a:ext cx="2743200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4846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Генетичні алгоритми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Актуальність дослідження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5" y="1724147"/>
            <a:ext cx="2697480" cy="170411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719694"/>
            <a:ext cx="54865" cy="17085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3706" y="184922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0B1D3A"/>
                </a:solidFill>
                <a:latin typeface="Calibri"/>
              </a:rPr>
              <a:t>Економічна</a:t>
            </a:r>
            <a:r>
              <a:rPr sz="1200" b="1" i="0" dirty="0">
                <a:solidFill>
                  <a:srgbClr val="0B1D3A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0B1D3A"/>
                </a:solidFill>
                <a:latin typeface="Calibri"/>
              </a:rPr>
              <a:t>ефективність</a:t>
            </a:r>
            <a:endParaRPr sz="1200" b="1" i="0" dirty="0">
              <a:solidFill>
                <a:srgbClr val="0B1D3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1643" y="2362715"/>
            <a:ext cx="2431473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 dirty="0" err="1">
                <a:solidFill>
                  <a:srgbClr val="1E293B"/>
                </a:solidFill>
                <a:latin typeface="Calibri"/>
              </a:rPr>
              <a:t>Витрати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на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логістику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—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до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17%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вартості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доставки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.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Оптимізація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маршрутів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дає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значну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економію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палива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та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ресурсів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3536" y="1719694"/>
            <a:ext cx="2697480" cy="170411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9709" y="1719694"/>
            <a:ext cx="45719" cy="1704111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33771" y="185266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0B1D3A"/>
                </a:solidFill>
                <a:latin typeface="Calibri"/>
              </a:rPr>
              <a:t>Динамічність</a:t>
            </a:r>
            <a:r>
              <a:rPr sz="1200" b="1" i="0" dirty="0">
                <a:solidFill>
                  <a:srgbClr val="0B1D3A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0B1D3A"/>
                </a:solidFill>
                <a:latin typeface="Calibri"/>
              </a:rPr>
              <a:t>середовища</a:t>
            </a:r>
            <a:endParaRPr sz="1200" b="1" i="0" dirty="0">
              <a:solidFill>
                <a:srgbClr val="0B1D3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27981" y="2279360"/>
            <a:ext cx="219095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1E293B"/>
                </a:solidFill>
                <a:latin typeface="Calibri"/>
              </a:rPr>
              <a:t>Часові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вікна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(VRPTW),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обмеження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вантажності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,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затори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—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потрібна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адаптивна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система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в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реальному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часі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719694"/>
            <a:ext cx="2697480" cy="170411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59" y="1719694"/>
            <a:ext cx="54864" cy="1704111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852668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  <a:latin typeface="Calibri"/>
              </a:rPr>
              <a:t>Алгоритмічне покращення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279360"/>
            <a:ext cx="25146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1E293B"/>
                </a:solidFill>
                <a:latin typeface="Calibri"/>
              </a:rPr>
              <a:t>Класичні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евристики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застрягають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у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локальних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оптимумах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. ГА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ефективн</a:t>
            </a:r>
            <a:r>
              <a:rPr lang="uk-UA" sz="1050" b="0" i="0" dirty="0">
                <a:solidFill>
                  <a:srgbClr val="1E293B"/>
                </a:solidFill>
                <a:latin typeface="Calibri"/>
              </a:rPr>
              <a:t>іше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досліджує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простір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NP-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складних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задач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0740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VRP — NP-складна задача: точне розв'язання неможливе за прийнятний час для реальних масштабів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Завдання роботи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411480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698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972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Вивчити предметну область, структуру та принципи функціонування об'єкта дослідження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411480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830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Провести аналіз сучасних підходів та аналогів програмних продуктів для задач маршрутизації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411480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68879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Формалізувати транспортну мережу як мультимодальний зважений орієнтований граф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1272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54679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Розробити математичну модель задачі CVRPTW з обмеженнями місткості та часових вікон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411480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813048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Реалізувати програмний модуль та провести тестування на реальних географічних даних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72000"/>
            <a:ext cx="8046720" cy="292608"/>
          </a:xfrm>
          <a:prstGeom prst="rect">
            <a:avLst/>
          </a:prstGeom>
          <a:solidFill>
            <a:srgbClr val="1C7293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Практичне значення: автоматизована побудова маршрутів → скорочення витрат та підвищення якості обслуговування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Математична постановка задачі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33271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Цільова функція:  F = A · T_total + B · K  —  мінімізація часу переїздів та кількості задіяних ТЗ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Обмеження моделі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347472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Місткість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574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Сумарна вага вантажів у кожному ТЗ ≤ ліміт 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347472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Часові вікна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6974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Прибуття у вузол i в межах [eᵢ, lᵢ]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347472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37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Зв'язність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3375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Кожен клієнт відвіданий рівно один раз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347472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97763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97763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Мережа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977639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Calibri"/>
              </a:rPr>
              <a:t>Мультимодальний зважений орієнтований граф G=(V, E, Φ, Ψ)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Проєктування системи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ООП (Python) · CASE-засіб PlantUML · Стандарти UML 2.5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4864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Діаграма прецедентів (Use Case)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727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Функціональна модель — бізнес-сценарії та межа системи (4 групи прецедентів)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143000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1143000"/>
            <a:ext cx="54864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120700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Діаграма класів (2 шт.)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5727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Статична структура: сутності предметної області та модульна архітектура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240280"/>
            <a:ext cx="54864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3042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Діаграми послідовностей (3 шт.)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6700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Геокодування, TSP-оптимізація, CVRPTW-оптимізація (GA-центрична стратегія)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240280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846320" y="2240280"/>
            <a:ext cx="54864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80" y="23042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Діаграма діяльності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6700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Наскрізний процес: підготовка → паралельне рішення → синтез результатів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37560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337560"/>
            <a:ext cx="54864" cy="9601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401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Діаграма станів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673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Життєвий цикл пакунку: PENDING → IN_TRANSIT → DELIVERED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3337560"/>
            <a:ext cx="4114800" cy="960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46320" y="3337560"/>
            <a:ext cx="54864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83480" y="34015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ER-діаграма + DFD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7673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Інформаційна модель: реляційна схема та потоки даних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04288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04288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59935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059935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OSMnx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15583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15583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PlantUML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71231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71231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Nominatim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Діаграма прецедентів (Use Case)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rcRect t="5865"/>
          <a:stretch/>
        </p:blipFill>
        <p:spPr>
          <a:xfrm>
            <a:off x="2714852" y="976745"/>
            <a:ext cx="3850296" cy="38877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Діаграма класів — предметна область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rcRect t="10729"/>
          <a:stretch/>
        </p:blipFill>
        <p:spPr>
          <a:xfrm>
            <a:off x="1048562" y="1032164"/>
            <a:ext cx="7182876" cy="36868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Діаграма послідовності — геокодування адреси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FEA181-73C3-E9FD-1B64-2622D8EAAE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93"/>
          <a:stretch/>
        </p:blipFill>
        <p:spPr>
          <a:xfrm>
            <a:off x="1706442" y="838200"/>
            <a:ext cx="5731115" cy="400487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FFFFFF"/>
                </a:solidFill>
                <a:latin typeface="Trebuchet MS"/>
              </a:rPr>
              <a:t>Діаграма</a:t>
            </a:r>
            <a:r>
              <a:rPr sz="2400" b="1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ebuchet MS"/>
              </a:rPr>
              <a:t>послідовності</a:t>
            </a:r>
            <a:r>
              <a:rPr sz="2400" b="1" dirty="0">
                <a:solidFill>
                  <a:srgbClr val="FFFFFF"/>
                </a:solidFill>
                <a:latin typeface="Trebuchet MS"/>
              </a:rPr>
              <a:t> — </a:t>
            </a:r>
            <a:r>
              <a:rPr sz="2400" b="1" dirty="0" err="1">
                <a:solidFill>
                  <a:srgbClr val="FFFFFF"/>
                </a:solidFill>
                <a:latin typeface="Trebuchet MS"/>
              </a:rPr>
              <a:t>оптимізація</a:t>
            </a:r>
            <a:r>
              <a:rPr sz="2400" b="1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ebuchet MS"/>
              </a:rPr>
              <a:t>маршруту</a:t>
            </a:r>
            <a:endParaRPr sz="2400" b="1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8D6E81-9F7A-C0F8-2066-03469E6805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81"/>
          <a:stretch/>
        </p:blipFill>
        <p:spPr>
          <a:xfrm>
            <a:off x="1789356" y="776413"/>
            <a:ext cx="5565288" cy="4138487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Діаграма станів — життєвий цикл пакунку</a:t>
            </a:r>
          </a:p>
        </p:txBody>
      </p:sp>
      <p:pic>
        <p:nvPicPr>
          <p:cNvPr id="4" name="Picture 3" descr="image8.png"/>
          <p:cNvPicPr>
            <a:picLocks noChangeAspect="1"/>
          </p:cNvPicPr>
          <p:nvPr/>
        </p:nvPicPr>
        <p:blipFill>
          <a:blip r:embed="rId2"/>
          <a:srcRect t="6871"/>
          <a:stretch/>
        </p:blipFill>
        <p:spPr>
          <a:xfrm>
            <a:off x="2705938" y="969818"/>
            <a:ext cx="3868124" cy="38462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Діаграма потоків даних (DFD рівня 1)</a:t>
            </a:r>
          </a:p>
        </p:txBody>
      </p:sp>
      <p:pic>
        <p:nvPicPr>
          <p:cNvPr id="4" name="Picture 3" descr="image10.png"/>
          <p:cNvPicPr>
            <a:picLocks noChangeAspect="1"/>
          </p:cNvPicPr>
          <p:nvPr/>
        </p:nvPicPr>
        <p:blipFill>
          <a:blip r:embed="rId2"/>
          <a:srcRect t="6033"/>
          <a:stretch/>
        </p:blipFill>
        <p:spPr>
          <a:xfrm>
            <a:off x="2047542" y="942107"/>
            <a:ext cx="5184916" cy="38808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Архітектура системи DeliveryIQ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274320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54864" cy="1600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D3A"/>
                </a:solidFill>
                <a:latin typeface="Calibri"/>
              </a:rPr>
              <a:t>Streamlit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36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  <a:latin typeface="Calibri"/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Центральний контролер, сесійний стан, вкладки TSP / VRP /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097280"/>
            <a:ext cx="274320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1097280"/>
            <a:ext cx="54864" cy="1600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188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D3A"/>
                </a:solidFill>
                <a:latin typeface="Calibri"/>
              </a:rPr>
              <a:t>GraphBuilder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536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  <a:latin typeface="Calibri"/>
              </a:rPr>
              <a:t>graph_builder.py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828800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OSMnx-мережа, 3 модальні копії, матриця Дейкстри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097280"/>
            <a:ext cx="274320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097280"/>
            <a:ext cx="54864" cy="1600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188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D3A"/>
                </a:solidFill>
                <a:latin typeface="Calibri"/>
              </a:rPr>
              <a:t>VRPSolver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536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  <a:latin typeface="Calibri"/>
              </a:rPr>
              <a:t>vrp_solver.py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CVRPTW: двофазовий GA-декодер, split-алгоритм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834639"/>
            <a:ext cx="274320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2834639"/>
            <a:ext cx="54864" cy="1600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92607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D3A"/>
                </a:solidFill>
                <a:latin typeface="Calibri"/>
              </a:rPr>
              <a:t>RouteSolver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7355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  <a:latin typeface="Calibri"/>
              </a:rPr>
              <a:t>route_solver.py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566159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TSP: NN / 2-opt / GA / Christofides, авто-вибір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834639"/>
            <a:ext cx="274320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29000" y="2834639"/>
            <a:ext cx="54864" cy="1600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292607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D3A"/>
                </a:solidFill>
                <a:latin typeface="Calibri"/>
              </a:rPr>
              <a:t>PackageDB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27355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  <a:latin typeface="Calibri"/>
              </a:rPr>
              <a:t>package_db.py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566159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SQLite: пакунки, статуси, CRUD-методи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834639"/>
            <a:ext cx="2743200" cy="1600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5080" y="2834639"/>
            <a:ext cx="54864" cy="1600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292607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1D3A"/>
                </a:solidFill>
                <a:latin typeface="Calibri"/>
              </a:rPr>
              <a:t>Visualizer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27355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4B8A6"/>
                </a:solidFill>
                <a:latin typeface="Calibri"/>
              </a:rPr>
              <a:t>visualizer.py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566159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Folium + AntPath: анімовані маршрути на карті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Діаграма взаємодії модулів та зовнішніх сервісів</a:t>
            </a:r>
          </a:p>
        </p:txBody>
      </p:sp>
      <p:pic>
        <p:nvPicPr>
          <p:cNvPr id="4" name="Picture 3" descr="module_inter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275" y="880000"/>
            <a:ext cx="4491449" cy="413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Генетичний алгоритм: CVRPTW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411480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411480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0759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1155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D3A"/>
                </a:solidFill>
                <a:latin typeface="Calibri"/>
              </a:rPr>
              <a:t>Ініціалізація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50 хромосом: 1 жадібна (найбл. сусід) + 49 випадкових. Кодування: giant tour.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051560"/>
            <a:ext cx="411480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1051560"/>
            <a:ext cx="411480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130759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1155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D3A"/>
                </a:solidFill>
                <a:latin typeface="Calibri"/>
              </a:rPr>
              <a:t>Декодування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5087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Split-декодер: хромосома → маршрути ТЗ з перевіркою вантажності та режимів.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40280"/>
            <a:ext cx="411480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240280"/>
            <a:ext cx="411480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49631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3042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D3A"/>
                </a:solidFill>
                <a:latin typeface="Calibri"/>
              </a:rPr>
              <a:t>Fitness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974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 = A·T_total + B·K + P·|U|  — штраф за нерозподілених клієнтів.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240280"/>
            <a:ext cx="411480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846320" y="2240280"/>
            <a:ext cx="411480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249631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3042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D3A"/>
                </a:solidFill>
                <a:latin typeface="Calibri"/>
              </a:rPr>
              <a:t>Селекція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69748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Турнірний відбір (k=3) + елітизм (2 найкращі без змін).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29000"/>
            <a:ext cx="411480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411480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68503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493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D3A"/>
                </a:solidFill>
                <a:latin typeface="Calibri"/>
              </a:rPr>
              <a:t>Схрещування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88620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OX crossover (85%): сегмент від батька 1, решта — від батька 2 по порядку.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3429000"/>
            <a:ext cx="4114800" cy="10515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46320" y="3429000"/>
            <a:ext cx="411480" cy="10515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3685032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3493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1D3A"/>
                </a:solidFill>
                <a:latin typeface="Calibri"/>
              </a:rPr>
              <a:t>Мутація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388620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Swap mutation (15%): обмін двох випадкових генів для підтримки різноманіття.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45152"/>
            <a:ext cx="8046720" cy="292608"/>
          </a:xfrm>
          <a:prstGeom prst="rect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654296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150 поколінь → найкраща хромосома → реконструкція маршрутів → візуалізація на карті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Інформаційне забезпечення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502920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" cy="8412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1064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  <a:latin typeface="Calibri"/>
              </a:rPr>
              <a:t>Транспортна мережа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53895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Матриці відстаней та часових витрат між вузлами графа (drive / bike / walk)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502920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54864" cy="8412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0665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  <a:latin typeface="Calibri"/>
              </a:rPr>
              <a:t>Транспортні засоби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1401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Місткість, режим руху, швидкість, графік роботи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502920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4864" cy="8412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0266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  <a:latin typeface="Calibri"/>
              </a:rPr>
              <a:t>Замовлення / Пакунки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37413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Адреса, вага вантажу, координати, часові вікна клієнтів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5029200" cy="8412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54864" cy="84124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39867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  <a:latin typeface="Calibri"/>
              </a:rPr>
              <a:t>Зберігання даних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3425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SQLite (пакунки), GraphML-кеш (OSM-мережі), JSON/CSV (обмін)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1051560"/>
            <a:ext cx="2926080" cy="35204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1D3A"/>
                </a:solidFill>
                <a:latin typeface="Calibri"/>
              </a:rPr>
              <a:t>Стани пакунку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572768"/>
            <a:ext cx="2606040" cy="5943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1609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892807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Очікує відправлення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1945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377440"/>
            <a:ext cx="2606040" cy="5943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0760" y="241401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IN_TRANSIT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697480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Виконання доставки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99923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182112"/>
            <a:ext cx="2606040" cy="59436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80760" y="321868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502152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Термінальний стан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04288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04288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59935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59935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OSMnx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15583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15583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Nominatim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71231" y="4846320"/>
            <a:ext cx="1572768" cy="25603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571231" y="484632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JSON/CSV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Програмна реалізація та тестування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solidFill>
            <a:srgbClr val="1C7293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042415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Мова: Python 3.12  |  Фреймворк: Streamlit  |  Веб-застосунок, без встановлення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8046720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54864" cy="6217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700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Модульне тестування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737360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Критичні утилітарні функції: кодування координат, зчитування матриці, перевірка часових вікон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59152"/>
            <a:ext cx="8046720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2359152"/>
            <a:ext cx="54864" cy="6217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4140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Інтеграційне тестування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50592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Повний цикл TSP + VRP на реальних адресах м. Дніпро. Сценарії 5–50 замовлень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72384"/>
            <a:ext cx="8046720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072384"/>
            <a:ext cx="54864" cy="62179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Функціональне тестування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63824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Відповідність діаграмі прецедентів та математичній моделі CVRPTW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85615"/>
            <a:ext cx="8046720" cy="62179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785615"/>
            <a:ext cx="54864" cy="62179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8404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B1D3A"/>
                </a:solidFill>
                <a:latin typeface="Calibri"/>
              </a:rPr>
              <a:t>Порівняльний бенчмарк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877055"/>
            <a:ext cx="4892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GA vs NN / Кларк-Райт / 2-opt: 10 незалежних прогонів на сценарії №3 (20 зам., 3 ТЗ)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Демонстрація: головний інтерфейс та карта</a:t>
            </a:r>
          </a:p>
        </p:txBody>
      </p:sp>
      <p:pic>
        <p:nvPicPr>
          <p:cNvPr id="4" name="Picture 3" descr="{12FD7311-2B02-4A9C-9979-A5CADDA9CADA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908306"/>
            <a:ext cx="8680000" cy="40733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FFFFFF"/>
                </a:solidFill>
                <a:latin typeface="Trebuchet MS"/>
              </a:rPr>
              <a:t>Демонстрація</a:t>
            </a:r>
            <a:r>
              <a:rPr sz="2400" b="1" dirty="0">
                <a:solidFill>
                  <a:srgbClr val="FFFFFF"/>
                </a:solidFill>
                <a:latin typeface="Trebuchet MS"/>
              </a:rPr>
              <a:t>: </a:t>
            </a:r>
            <a:r>
              <a:rPr sz="2400" b="1" dirty="0" err="1">
                <a:solidFill>
                  <a:srgbClr val="FFFFFF"/>
                </a:solidFill>
                <a:latin typeface="Trebuchet MS"/>
              </a:rPr>
              <a:t>налаштування</a:t>
            </a:r>
            <a:r>
              <a:rPr sz="2400" b="1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ebuchet MS"/>
              </a:rPr>
              <a:t>флоту</a:t>
            </a:r>
            <a:endParaRPr sz="2400" b="1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4" name="Picture 3" descr="{F43365E2-7D54-4BB4-86C3-801C2A2333D1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82" y="880000"/>
            <a:ext cx="7189435" cy="413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Демонстрація: менеджер посилок</a:t>
            </a:r>
          </a:p>
        </p:txBody>
      </p:sp>
      <p:pic>
        <p:nvPicPr>
          <p:cNvPr id="4" name="Picture 3" descr="{CB18F215-397B-426A-898E-290095B9D27E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557959"/>
            <a:ext cx="8680000" cy="27740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FFFFFF"/>
                </a:solidFill>
                <a:latin typeface="Trebuchet MS"/>
              </a:rPr>
              <a:t>Демонстрація</a:t>
            </a:r>
            <a:r>
              <a:rPr sz="2400" b="1" dirty="0">
                <a:solidFill>
                  <a:srgbClr val="FFFFFF"/>
                </a:solidFill>
                <a:latin typeface="Trebuchet MS"/>
              </a:rPr>
              <a:t>: </a:t>
            </a:r>
            <a:r>
              <a:rPr sz="2400" b="1" dirty="0" err="1">
                <a:solidFill>
                  <a:srgbClr val="FFFFFF"/>
                </a:solidFill>
                <a:latin typeface="Trebuchet MS"/>
              </a:rPr>
              <a:t>список</a:t>
            </a:r>
            <a:r>
              <a:rPr sz="2400" b="1" dirty="0">
                <a:solidFill>
                  <a:srgbClr val="FFFFFF"/>
                </a:solidFill>
                <a:latin typeface="Trebuchet MS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Trebuchet MS"/>
              </a:rPr>
              <a:t>посилок</a:t>
            </a:r>
            <a:endParaRPr sz="2400" b="1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4" name="Picture 3" descr="{2CB65C3C-BA06-4E22-99D4-521FA2B13987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954737"/>
            <a:ext cx="8680000" cy="39805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Демонстрація: точки доставки на карті</a:t>
            </a:r>
          </a:p>
        </p:txBody>
      </p:sp>
      <p:pic>
        <p:nvPicPr>
          <p:cNvPr id="4" name="Picture 3" descr="{515D0551-36FE-400D-9110-901F93430BD8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999968"/>
            <a:ext cx="8680000" cy="38900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 err="1">
                <a:solidFill>
                  <a:srgbClr val="FFFFFF"/>
                </a:solidFill>
                <a:latin typeface="Trebuchet MS"/>
              </a:rPr>
              <a:t>Демонстрація</a:t>
            </a:r>
            <a:r>
              <a:rPr sz="2400" b="1" dirty="0">
                <a:solidFill>
                  <a:srgbClr val="FFFFFF"/>
                </a:solidFill>
                <a:latin typeface="Trebuchet MS"/>
              </a:rPr>
              <a:t>: </a:t>
            </a:r>
            <a:r>
              <a:rPr sz="2400" b="1" dirty="0" err="1">
                <a:solidFill>
                  <a:srgbClr val="FFFFFF"/>
                </a:solidFill>
                <a:latin typeface="Trebuchet MS"/>
              </a:rPr>
              <a:t>підсумок</a:t>
            </a:r>
            <a:r>
              <a:rPr sz="2400" b="1" dirty="0">
                <a:solidFill>
                  <a:srgbClr val="FFFFFF"/>
                </a:solidFill>
                <a:latin typeface="Trebuchet MS"/>
              </a:rPr>
              <a:t> </a:t>
            </a:r>
            <a:r>
              <a:rPr lang="uk-UA" sz="2400" b="1" dirty="0">
                <a:solidFill>
                  <a:srgbClr val="FFFFFF"/>
                </a:solidFill>
                <a:latin typeface="Trebuchet MS"/>
              </a:rPr>
              <a:t>оптимізації</a:t>
            </a:r>
            <a:endParaRPr sz="2400" b="1" dirty="0">
              <a:solidFill>
                <a:srgbClr val="FFFFFF"/>
              </a:solidFill>
              <a:latin typeface="Trebuchet MS"/>
            </a:endParaRPr>
          </a:p>
        </p:txBody>
      </p:sp>
      <p:pic>
        <p:nvPicPr>
          <p:cNvPr id="4" name="Picture 3" descr="{599735CC-B76A-4889-9A3C-400AB9B72906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00" y="1111975"/>
            <a:ext cx="8680000" cy="36660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Trebuchet MS"/>
              </a:rPr>
              <a:t>Демонстрація: побудований маршрут на карті</a:t>
            </a:r>
          </a:p>
        </p:txBody>
      </p:sp>
      <p:pic>
        <p:nvPicPr>
          <p:cNvPr id="4" name="Picture 3" descr="{A4041419-0CD7-4390-AF7D-8FEA6FBA82E9}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853" y="880000"/>
            <a:ext cx="6826293" cy="413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1C729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Результати чисельних експериментів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  <a:latin typeface="Calibri"/>
              </a:rPr>
              <a:t>Сценарій: 20 замовлень, 3 ТЗ, радіус 10 км, м. Дніпро | 10 незалежних прогонів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8046720" cy="384048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Метод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17043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Сер. час (хв)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17043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Відхилення від 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17043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Час виконання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527048"/>
            <a:ext cx="804672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6367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Найближчий сусід (NN)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636776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1E293B"/>
                </a:solidFill>
                <a:latin typeface="Calibri"/>
              </a:rPr>
              <a:t>96</a:t>
            </a:r>
            <a:endParaRPr sz="11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16367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+35.9 %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6367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0.4 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48840"/>
            <a:ext cx="804672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Кларк-Райт (CW)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2258568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1E293B"/>
                </a:solidFill>
                <a:latin typeface="Calibri"/>
              </a:rPr>
              <a:t>75.2</a:t>
            </a:r>
            <a:endParaRPr sz="11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17720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+14.8 %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0.4 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70632"/>
            <a:ext cx="8046720" cy="5669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288036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E293B"/>
                </a:solidFill>
                <a:latin typeface="Calibri"/>
              </a:rPr>
              <a:t>2-op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t</a:t>
            </a:r>
            <a:endParaRPr sz="11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288036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1E293B"/>
                </a:solidFill>
                <a:latin typeface="Calibri"/>
              </a:rPr>
              <a:t>81.1</a:t>
            </a:r>
            <a:endParaRPr sz="11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720" y="288036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E293B"/>
                </a:solidFill>
                <a:latin typeface="Calibri"/>
              </a:rPr>
              <a:t>+</a:t>
            </a:r>
            <a:r>
              <a:rPr lang="en-US" sz="1100" dirty="0">
                <a:solidFill>
                  <a:srgbClr val="1E293B"/>
                </a:solidFill>
                <a:latin typeface="Calibri"/>
              </a:rPr>
              <a:t>6.5</a:t>
            </a:r>
            <a:r>
              <a:rPr sz="1100" b="0" i="0" dirty="0">
                <a:solidFill>
                  <a:srgbClr val="1E293B"/>
                </a:solidFill>
                <a:latin typeface="Calibri"/>
              </a:rPr>
              <a:t>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8803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/>
              </a:rPr>
              <a:t>1.8 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392424"/>
            <a:ext cx="8046720" cy="566928"/>
          </a:xfrm>
          <a:prstGeom prst="rect">
            <a:avLst/>
          </a:prstGeom>
          <a:solidFill>
            <a:srgbClr val="D1F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3502152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 err="1">
                <a:solidFill>
                  <a:srgbClr val="1E293B"/>
                </a:solidFill>
                <a:latin typeface="Calibri"/>
              </a:rPr>
              <a:t>Генетичний</a:t>
            </a:r>
            <a:r>
              <a:rPr sz="1100" b="1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1E293B"/>
                </a:solidFill>
                <a:latin typeface="Calibri"/>
              </a:rPr>
              <a:t>алгоритм</a:t>
            </a:r>
            <a:endParaRPr sz="11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06040" y="3502152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rgbClr val="1E293B"/>
                </a:solidFill>
                <a:latin typeface="Calibri"/>
              </a:rPr>
              <a:t>70.6</a:t>
            </a:r>
            <a:endParaRPr sz="1100" b="1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17720" y="35021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—  (оптимум)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50215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4B8A6"/>
                </a:solidFill>
                <a:latin typeface="Calibri"/>
              </a:rPr>
              <a:t>6.5 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462686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FFFFFF"/>
                </a:solidFill>
                <a:latin typeface="Calibri"/>
              </a:rPr>
              <a:t>GA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забезпечує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маршрути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на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6–36 %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коротші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за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класичні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евристики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при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прийнятному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часі</a:t>
            </a:r>
            <a:r>
              <a:rPr sz="115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Calibri"/>
              </a:rPr>
              <a:t>розрахунку</a:t>
            </a:r>
            <a:endParaRPr sz="115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Trebuchet MS"/>
              </a:rPr>
              <a:t>Висновки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14984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99669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024128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Формалізовано транспортну мережу як мультимодальний зважений орієнтований граф G=(V, E, Φ, Ψ)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55064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3677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Розроблено математичну модель CVRPTW з обмеженнями місткості та часових вікон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95144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276856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04288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Реалізовано 7 UML-діаграм (прецеденти, класи, послідовності, діяльності, стани, ER, DFD)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35223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916935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944367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Реалізовано GA: популяція 50, 150 поколінь, OX crossover (85%), swap mutation (15%)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75303"/>
            <a:ext cx="292608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57015"/>
            <a:ext cx="292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584447"/>
            <a:ext cx="749807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Проведено тестування на реальних даних Дніпра: GA покращує маршрути на 6–36 % vs класичні методи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4453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14B8A6"/>
                </a:solidFill>
                <a:latin typeface="Calibri"/>
              </a:rPr>
              <a:t>Дякую</a:t>
            </a:r>
            <a:r>
              <a:rPr sz="1800" b="1" i="0" dirty="0">
                <a:solidFill>
                  <a:srgbClr val="14B8A6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4B8A6"/>
                </a:solidFill>
                <a:latin typeface="Calibri"/>
              </a:rPr>
              <a:t>за</a:t>
            </a:r>
            <a:r>
              <a:rPr sz="1800" b="1" i="0" dirty="0">
                <a:solidFill>
                  <a:srgbClr val="14B8A6"/>
                </a:solidFill>
                <a:latin typeface="Calibri"/>
              </a:rPr>
              <a:t> </a:t>
            </a:r>
            <a:r>
              <a:rPr sz="1800" b="1" i="0" dirty="0" err="1">
                <a:solidFill>
                  <a:srgbClr val="14B8A6"/>
                </a:solidFill>
                <a:latin typeface="Calibri"/>
              </a:rPr>
              <a:t>увагу</a:t>
            </a:r>
            <a:r>
              <a:rPr sz="1800" b="1" i="0" dirty="0">
                <a:solidFill>
                  <a:srgbClr val="14B8A6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1049</Words>
  <Application>Microsoft Office PowerPoint</Application>
  <PresentationFormat>On-screen Show (16:9)</PresentationFormat>
  <Paragraphs>189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Tymur Nikolaiev</cp:lastModifiedBy>
  <cp:revision>34</cp:revision>
  <dcterms:created xsi:type="dcterms:W3CDTF">2013-01-27T09:14:16Z</dcterms:created>
  <dcterms:modified xsi:type="dcterms:W3CDTF">2026-06-01T16:57:31Z</dcterms:modified>
  <cp:category/>
</cp:coreProperties>
</file>