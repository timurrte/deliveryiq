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1" r:id="rId10"/>
    <p:sldId id="272" r:id="rId11"/>
    <p:sldId id="275" r:id="rId12"/>
    <p:sldId id="277" r:id="rId13"/>
    <p:sldId id="262" r:id="rId14"/>
    <p:sldId id="278" r:id="rId15"/>
    <p:sldId id="263" r:id="rId16"/>
    <p:sldId id="264" r:id="rId17"/>
    <p:sldId id="265" r:id="rId18"/>
    <p:sldId id="279" r:id="rId19"/>
    <p:sldId id="280" r:id="rId20"/>
    <p:sldId id="281" r:id="rId21"/>
    <p:sldId id="282" r:id="rId22"/>
    <p:sldId id="283" r:id="rId23"/>
    <p:sldId id="284" r:id="rId24"/>
    <p:sldId id="286" r:id="rId25"/>
    <p:sldId id="266" r:id="rId26"/>
    <p:sldId id="267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5" d="100"/>
          <a:sy n="155" d="100"/>
        </p:scale>
        <p:origin x="3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9167ADC-587A-FF7E-8289-08EA898B6DA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ADAE1-00E5-54DE-E506-736F38CACB3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38AE5-C6A3-47E9-8146-192446ACA407}" type="datetime1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768AC1-2854-07F5-D113-D81AF2ED28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1F967-8C7B-C204-BB2D-5F903C946E5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E358DD-87B7-40B1-B4E7-C083A3B5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170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E602C1-FD39-474B-8E9E-3C82FC4D49CF}" type="datetime1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181BD-61E0-402A-A10D-C20849929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6781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AC57F-4FCA-491A-82FB-556EC55060BC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6A48F-2C65-4B23-BCFE-03C0E5AD78F3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9A1EC-4414-4954-8B8E-79607052AB91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53034-A422-490F-87BB-C1B26810D76C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EA4C-E199-4B03-ADEB-24B992B8EA05}" type="datetime1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E25AB-CC8A-4B57-8557-C3DD5219E309}" type="datetime1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335DC333-F6D0-00C2-5031-F8E984B44497}"/>
              </a:ext>
            </a:extLst>
          </p:cNvPr>
          <p:cNvSpPr/>
          <p:nvPr userDrawn="1"/>
        </p:nvSpPr>
        <p:spPr>
          <a:xfrm>
            <a:off x="8679180" y="290512"/>
            <a:ext cx="375920" cy="365125"/>
          </a:xfrm>
          <a:prstGeom prst="ellipse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9A11C-4C4D-443A-9EDE-122E473CB155}" type="datetime1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74C2-2F64-4AC7-B94D-579EE27CEDBB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8E289-03AF-4763-A847-3AE97CFA1361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010400" y="66675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2F70C-7C27-44A3-A6D7-82F017C5F749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FD299-4B9E-416E-9560-408B60443B50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2857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64026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ADDC00-00A2-4CD0-9FF4-A62C33463821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70200" y="464026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CC0CF-8796-FAE6-94EA-7ECBDDC1AA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274638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265F75E0-50D5-439F-A791-6B91EEBFFF5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046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Розробка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та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програмна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реалізація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алгоритму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
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оптимізації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розподілу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вантажів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у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транспортній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мережі</a:t>
            </a:r>
            <a:endParaRPr sz="2700" b="1" i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Дипломна робота бакалавра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64748B"/>
                </a:solidFill>
                <a:latin typeface="Calibri"/>
              </a:rPr>
              <a:t>Студент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Ніколаєв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 Т. О.  | 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Керівник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Зеленцов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 Д. Г.  | 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Група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: 4-КН-22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УДУНТ · ННІ УДХТУ · Кафедра інформаційних систем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Об'єкт, предмет та мета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18167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Об'єкт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29151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Проблема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розподілу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вантажів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у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мультимодальній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транспортній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мережі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2148839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48839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19915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Предмет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80409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b="0" i="0" dirty="0">
                <a:solidFill>
                  <a:srgbClr val="1E293B"/>
                </a:solidFill>
                <a:latin typeface="Calibri"/>
              </a:rPr>
              <a:t>Математичні моделі та ев</a:t>
            </a:r>
            <a:r>
              <a:rPr lang="uk-UA" sz="1200" b="0" i="0" dirty="0">
                <a:solidFill>
                  <a:srgbClr val="1E293B"/>
                </a:solidFill>
                <a:latin typeface="Calibri"/>
              </a:rPr>
              <a:t>олюційн</a:t>
            </a:r>
            <a:r>
              <a:rPr lang="ru-RU" sz="1200" b="0" i="0" dirty="0">
                <a:solidFill>
                  <a:srgbClr val="1E293B"/>
                </a:solidFill>
                <a:latin typeface="Calibri"/>
              </a:rPr>
              <a:t>і алгоритми в задачах маршрутизації транспортних засобів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79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Мета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95420"/>
            <a:ext cx="6675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Розробка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програмна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реалізація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алгоритму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оптимізації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маршрутів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для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мінімізації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сумарного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переїздів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кількості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задіяних</a:t>
            </a:r>
            <a:r>
              <a:rPr lang="uk-UA" sz="1200" dirty="0">
                <a:solidFill>
                  <a:srgbClr val="1E293B"/>
                </a:solidFill>
                <a:latin typeface="Calibri"/>
              </a:rPr>
              <a:t> транспортних засобів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83187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FFFFFF"/>
                </a:solidFill>
                <a:latin typeface="Calibri"/>
              </a:rPr>
              <a:t>Теорія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FFFFFF"/>
                </a:solidFill>
                <a:latin typeface="Calibri"/>
              </a:rPr>
              <a:t>графів</a:t>
            </a:r>
            <a:endParaRPr sz="9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10128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10128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FFFFFF"/>
                </a:solidFill>
                <a:latin typeface="Calibri"/>
              </a:rPr>
              <a:t>Математичне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FFFFFF"/>
                </a:solidFill>
                <a:latin typeface="Calibri"/>
              </a:rPr>
              <a:t>моделювання</a:t>
            </a:r>
            <a:endParaRPr sz="9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302987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2987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Генетичні алгоритми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4546EAFD-3DB5-7075-39F7-ABBE3830A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Актуальність дослідження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5" y="1724147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719694"/>
            <a:ext cx="54865" cy="17085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3706" y="1849226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B1D3A"/>
                </a:solidFill>
                <a:latin typeface="Calibri"/>
              </a:rPr>
              <a:t>Економічна</a:t>
            </a:r>
            <a:r>
              <a:rPr sz="1200" b="1" i="0" dirty="0">
                <a:solidFill>
                  <a:srgbClr val="0B1D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0B1D3A"/>
                </a:solidFill>
                <a:latin typeface="Calibri"/>
              </a:rPr>
              <a:t>ефективність</a:t>
            </a:r>
            <a:endParaRPr sz="1200" b="1" i="0" dirty="0">
              <a:solidFill>
                <a:srgbClr val="0B1D3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5269" y="2126273"/>
            <a:ext cx="243147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 err="1">
                <a:solidFill>
                  <a:srgbClr val="1E293B"/>
                </a:solidFill>
                <a:latin typeface="Calibri"/>
              </a:rPr>
              <a:t>Витрати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логістику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17%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вартості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Оптимізація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маршрутів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дає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значну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економію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палива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ресурсів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3536" y="1719694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9709" y="1719694"/>
            <a:ext cx="45719" cy="1704111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3771" y="18526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B1D3A"/>
                </a:solidFill>
                <a:latin typeface="Calibri"/>
              </a:rPr>
              <a:t>Динамічність</a:t>
            </a:r>
            <a:r>
              <a:rPr sz="1200" b="1" i="0" dirty="0">
                <a:solidFill>
                  <a:srgbClr val="0B1D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0B1D3A"/>
                </a:solidFill>
                <a:latin typeface="Calibri"/>
              </a:rPr>
              <a:t>середовища</a:t>
            </a:r>
            <a:endParaRPr sz="1200" b="1" i="0" dirty="0">
              <a:solidFill>
                <a:srgbClr val="0B1D3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4152" y="2088658"/>
            <a:ext cx="219095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Часові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вікна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(VRPTW),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обмеження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вантажності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затори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потрібна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адаптивна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система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в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реальному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часі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719694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719694"/>
            <a:ext cx="54864" cy="1704111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8526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Алгоритмічне покращення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2566" y="2101413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Класичні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евристики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застрягають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у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локальних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оптимумах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 ГА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ефективн</a:t>
            </a:r>
            <a:r>
              <a:rPr lang="uk-UA" sz="1400" b="0" i="0" dirty="0">
                <a:solidFill>
                  <a:srgbClr val="1E293B"/>
                </a:solidFill>
                <a:latin typeface="Calibri"/>
              </a:rPr>
              <a:t>іше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досліджує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простір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NP-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складних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задач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074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VRP — NP-складна задача: точне розв'язання неможливе за прийнятний час для реальних масштабів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9E94B67-2D46-477B-B1A2-B1E7B445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2167" y="4325113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Завдання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698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972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Вивчити предметну область, структуру та принципи функціонування об'єкта дослідження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83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Провести аналіз сучасних підходів та аналогів програмних продуктів для задач маршрутизації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Формалізувати транспортну мережу як мультимодальний зважений орієнтований граф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Розробити математичну модель задачі CVRPTW з обмеженнями місткості та часових вікон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8130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Реалізувати програмний модуль та провести тестування на реальних географічних даних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72000"/>
            <a:ext cx="8046720" cy="292608"/>
          </a:xfrm>
          <a:prstGeom prst="rect">
            <a:avLst/>
          </a:prstGeom>
          <a:solidFill>
            <a:srgbClr val="1C729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5720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Практичне значення: автоматизована побудова маршрутів → скорочення витрат та підвищення якості обслуговування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6B9AAE52-2782-A7D3-B38F-3EDB92E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Математична постановка задачі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609" y="1563727"/>
            <a:ext cx="1378527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609" y="1686473"/>
            <a:ext cx="137852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 err="1">
                <a:solidFill>
                  <a:srgbClr val="FFFFFF"/>
                </a:solidFill>
                <a:latin typeface="Calibri"/>
              </a:rPr>
              <a:t>Цільова</a:t>
            </a:r>
            <a:r>
              <a:rPr sz="12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Calibri"/>
              </a:rPr>
              <a:t>функція</a:t>
            </a:r>
            <a:r>
              <a:rPr sz="1250" b="1" i="0" dirty="0">
                <a:solidFill>
                  <a:srgbClr val="FFFFFF"/>
                </a:solidFill>
                <a:latin typeface="Calibri"/>
              </a:rPr>
              <a:t>:</a:t>
            </a:r>
            <a:endParaRPr lang="en-US" sz="1250" b="1" i="0" dirty="0">
              <a:solidFill>
                <a:srgbClr val="FFFFFF"/>
              </a:solidFill>
              <a:latin typeface="Calibri"/>
            </a:endParaRPr>
          </a:p>
          <a:p>
            <a:pPr algn="l"/>
            <a:endParaRPr sz="12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84318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  <a:latin typeface="Calibri"/>
              </a:rPr>
              <a:t>Обмеження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моделі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3231990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5150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1936" y="328207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Місткість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6080" y="32872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1F5F9"/>
                </a:solidFill>
                <a:latin typeface="Calibri"/>
              </a:rPr>
              <a:t>Сумарна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вага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вантажів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у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кожному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ТЗ ≤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ліміт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65948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6872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1936" y="37332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Часові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вікна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56560" y="373690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Прибуття у вузол i в межах [eᵢ, lᵢ]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3779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13511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18435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Зв'язність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26080" y="41833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1F5F9"/>
                </a:solidFill>
                <a:latin typeface="Calibri"/>
              </a:rPr>
              <a:t>Кожен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клієнт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відвіданий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рівно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один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раз</a:t>
            </a:r>
            <a:endParaRPr sz="1100" b="0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4604281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35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354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Мережа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63548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Мультимодальний зважений орієнтований граф G=(V, E, Φ, Ψ)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D9A5600-48F2-C464-0054-B70220F2F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361" y="912182"/>
            <a:ext cx="5149364" cy="1888100"/>
          </a:xfrm>
          <a:prstGeom prst="rect">
            <a:avLst/>
          </a:prstGeom>
        </p:spPr>
      </p:pic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3037E793-02AB-D55D-E557-4034FBE54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15286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Проєктування системи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ООП (Python) · CASE-засіб PlantUML · Стандарти UML 2.5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прецедентів (Use Case)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032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Функціональна модель — бізнес-сценарії та межа системи (4 групи прецедентів)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14300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класів (2 шт.)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48032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Статична структура: сутності предметної області та модульна архітектура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Діаграми послідовностей (3 шт.)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7760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Геокодування, TSP-оптимізація, CVRPTW-оптимізація (GA-центрична стратегія)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46320" y="224028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8348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діяльності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57760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Наскрізний процес: підготовка → паралельне рішення → синтез результатів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33756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станів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7488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Життєвий цикл пакунку: PENDING → IN_TRANSIT → DELIVERED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46320" y="333756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348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ER-діаграма + DFD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674882"/>
            <a:ext cx="3840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Інформаційна модель: реляційна схема та потоки даних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PlantUML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  <p:sp>
        <p:nvSpPr>
          <p:cNvPr id="45" name="Slide Number Placeholder 44">
            <a:extLst>
              <a:ext uri="{FF2B5EF4-FFF2-40B4-BE49-F238E27FC236}">
                <a16:creationId xmlns:a16="http://schemas.microsoft.com/office/drawing/2014/main" id="{8BF66A4D-3A85-4C8E-C480-356C1B898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прецедентів (Use Case)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rcRect t="5865"/>
          <a:stretch/>
        </p:blipFill>
        <p:spPr>
          <a:xfrm>
            <a:off x="2714852" y="976745"/>
            <a:ext cx="3850296" cy="388778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BC23DB-1D2F-D6FD-8B4E-2844D6794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класів — предметна область</a:t>
            </a:r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rcRect t="10729"/>
          <a:stretch/>
        </p:blipFill>
        <p:spPr>
          <a:xfrm>
            <a:off x="1048562" y="1032164"/>
            <a:ext cx="7182876" cy="368689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0EFC58F-2045-6B81-513D-7D1A6D787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послідовності — геокодування адреси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FEA181-73C3-E9FD-1B64-2622D8EAAE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93"/>
          <a:stretch/>
        </p:blipFill>
        <p:spPr>
          <a:xfrm>
            <a:off x="1706442" y="838200"/>
            <a:ext cx="5731115" cy="400487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4078EF5-6A51-16A5-6CE5-D2F636649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Діаграма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послідовності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оптимізація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маршруту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8D6E81-9F7A-C0F8-2066-03469E68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81"/>
          <a:stretch/>
        </p:blipFill>
        <p:spPr>
          <a:xfrm>
            <a:off x="1789356" y="776413"/>
            <a:ext cx="5565288" cy="413848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79B7BEC-2536-D00D-33EC-0FA4E8488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станів — життєвий цикл пакунку</a:t>
            </a:r>
          </a:p>
        </p:txBody>
      </p:sp>
      <p:pic>
        <p:nvPicPr>
          <p:cNvPr id="4" name="Picture 3" descr="image8.png"/>
          <p:cNvPicPr>
            <a:picLocks noChangeAspect="1"/>
          </p:cNvPicPr>
          <p:nvPr/>
        </p:nvPicPr>
        <p:blipFill>
          <a:blip r:embed="rId2"/>
          <a:srcRect t="6871"/>
          <a:stretch/>
        </p:blipFill>
        <p:spPr>
          <a:xfrm>
            <a:off x="2705938" y="969818"/>
            <a:ext cx="3868124" cy="3846218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35B3A84-C5F2-FF41-7CA9-8EAC58D70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потоків даних (DFD рівня 1)</a:t>
            </a:r>
          </a:p>
        </p:txBody>
      </p:sp>
      <p:pic>
        <p:nvPicPr>
          <p:cNvPr id="4" name="Picture 3" descr="image10.png"/>
          <p:cNvPicPr>
            <a:picLocks noChangeAspect="1"/>
          </p:cNvPicPr>
          <p:nvPr/>
        </p:nvPicPr>
        <p:blipFill>
          <a:blip r:embed="rId2"/>
          <a:srcRect t="6033"/>
          <a:stretch/>
        </p:blipFill>
        <p:spPr>
          <a:xfrm>
            <a:off x="2047542" y="942107"/>
            <a:ext cx="5184916" cy="388085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4E8BBFA-DF15-F550-A063-A3BD55C1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91545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Архітектура системи DeliveryIQ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Streamlit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Центральний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контролер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сесійний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стан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вкладки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TSP / VRP /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GraphBuilder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graph_builder.py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OSMnx-мережа, 3 модальні копії, матриця Дейкстри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VRPSolver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vrp_solver.py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CVRPTW: двофазовий GA-декодер, split-алгоритм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RouteSolver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route_solver.py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TSP: NN / 2-opt / GA /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Christofides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авто-вибір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42900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42900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PackageDB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package_db.py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SQLite: пакунки, статуси, CRUD-методи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Visualizer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visualizer.py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Folium + AntPath: анімовані маршрути на карті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D1CA6BEA-11B2-E782-97F5-703C94C6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взаємодії модулів та зовнішніх сервісів</a:t>
            </a:r>
          </a:p>
        </p:txBody>
      </p:sp>
      <p:pic>
        <p:nvPicPr>
          <p:cNvPr id="4" name="Picture 3" descr="module_inte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275" y="880000"/>
            <a:ext cx="4491449" cy="4130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CB3A928-0F3A-4097-44B3-D43399359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97908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Генетичний алгоритм: CVRPTW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Ініціалізація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50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хромосом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1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жадібна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(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найбл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сусід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) + 49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випадкових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Кодування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giant tour.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Декодування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50876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Split-декодер: хромосома → маршрути ТЗ з перевіркою вантажності та режимів.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Fitness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69748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F =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A·T_total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+ B·K + P·|U|  —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штраф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нерозподілених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клієнтів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Селекція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9748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Турнірний відбір (k=3) + елітизм (2 найкращі без змін).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Схрещування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88620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OX crossover (85%): сегмент від батька 1, решта — від батька 2 по порядку.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4632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Мутація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88620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Swap mutation (15%): обмін двох випадкових генів для підтримки різноманіття.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645152"/>
            <a:ext cx="8046720" cy="292608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65429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150 поколінь → найкраща хромосома → реконструкція маршрутів → візуалізація на карті</a:t>
            </a:r>
          </a:p>
        </p:txBody>
      </p:sp>
      <p:sp>
        <p:nvSpPr>
          <p:cNvPr id="42" name="Slide Number Placeholder 41">
            <a:extLst>
              <a:ext uri="{FF2B5EF4-FFF2-40B4-BE49-F238E27FC236}">
                <a16:creationId xmlns:a16="http://schemas.microsoft.com/office/drawing/2014/main" id="{213391F4-A9D9-50FA-E06B-89DAD0566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Інформаційне забезпечення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1064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Транспортна мережа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8511"/>
            <a:ext cx="4754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Матриці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відстаней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витрат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між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вузлами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графа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(drive / bike / walk)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0665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Транспортні засоби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39378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Місткість, режим руху, швидкість, графік роботи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2666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Замовлення / Пакунки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35390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Адреса, вага вантажу, координати, часові вікна клієнтів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39867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Зберігання даних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31402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SQLite (пакунки), GraphML-кеш (OSM-мережі), JSON/CSV (обмін)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1051560"/>
            <a:ext cx="2926080" cy="3520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1097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Стани пакунку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572768"/>
            <a:ext cx="2606040" cy="5943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1609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892807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Очікує відправлення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19456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377440"/>
            <a:ext cx="2606040" cy="5943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241401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IN_TRANSIT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69748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Виконання доставки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99923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3182112"/>
            <a:ext cx="2606040" cy="5943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321868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502152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Термінальний стан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JSON/CSV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ACA049CF-F880-896E-4704-92F8DD78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5552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Програмна реалізація та тестування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42415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Мова: Python 3.12  |  Фреймворк: Streamlit  |  Веб-застосунок, без встановлення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Модульне тестування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1550" y="170078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Критичні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утилітарні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функції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кодування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координат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зчитування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матриці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перевірка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вікон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2359152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59152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4140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Інтеграційне тестування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1550" y="24140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Повний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цикл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TSP + VRP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реальних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адресах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м.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Дніпро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Сценарії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5–50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замовлень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072384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072384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272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Функціональне тестування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1550" y="3210377"/>
            <a:ext cx="4892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Відповідність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діаграмі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прецедентів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математичній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моделі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CVRPTW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85615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785615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840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Порівняльний бенчмарк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1550" y="3840479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GA vs NN / Кларк-Райт / 2-opt: 10 незалежних прогонів на сценарії №3 (20 зам., 3 ТЗ)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6D5A1AAD-0391-2370-0C8A-2BFD97FD3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головний інтерфейс та карта</a:t>
            </a:r>
          </a:p>
        </p:txBody>
      </p:sp>
      <p:pic>
        <p:nvPicPr>
          <p:cNvPr id="4" name="Picture 3" descr="{12FD7311-2B02-4A9C-9979-A5CADDA9CADA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08306"/>
            <a:ext cx="8680000" cy="4073388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449448-7AC1-D11E-0DCE-CFE90D68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налаштування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флоту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F43365E2-7D54-4BB4-86C3-801C2A2333D1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282" y="880000"/>
            <a:ext cx="7189435" cy="4130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F3EBBBE-405E-96B1-A5E6-5B9B2D36F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менеджер посилок</a:t>
            </a:r>
          </a:p>
        </p:txBody>
      </p:sp>
      <p:pic>
        <p:nvPicPr>
          <p:cNvPr id="4" name="Picture 3" descr="{CB18F215-397B-426A-898E-290095B9D27E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557959"/>
            <a:ext cx="8680000" cy="2774081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400676-4412-6D3A-9DB1-7DB50F5F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список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посилок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2CB65C3C-BA06-4E22-99D4-521FA2B13987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54737"/>
            <a:ext cx="8680000" cy="398052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1E16E8-CA24-6BD2-C994-CF5452E80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точки доставки на карті</a:t>
            </a:r>
          </a:p>
        </p:txBody>
      </p:sp>
      <p:pic>
        <p:nvPicPr>
          <p:cNvPr id="4" name="Picture 3" descr="{515D0551-36FE-400D-9110-901F93430BD8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99968"/>
            <a:ext cx="8680000" cy="3890064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168C58-20F1-29C1-F56E-49A5D8835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підсумок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lang="uk-UA" sz="2400" b="1" dirty="0">
                <a:solidFill>
                  <a:srgbClr val="FFFFFF"/>
                </a:solidFill>
                <a:latin typeface="Trebuchet MS"/>
              </a:rPr>
              <a:t>оптимізації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599735CC-B76A-4889-9A3C-400AB9B72906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111975"/>
            <a:ext cx="8680000" cy="366605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42EC64-AC8A-9CED-06E6-84D49370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побудований маршрут на карті</a:t>
            </a:r>
          </a:p>
        </p:txBody>
      </p:sp>
      <p:pic>
        <p:nvPicPr>
          <p:cNvPr id="4" name="Picture 3" descr="{A4041419-0CD7-4390-AF7D-8FEA6FBA82E9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53" y="880000"/>
            <a:ext cx="6826293" cy="4130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28939A3-570C-F3E8-36ED-762F4F55E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85716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Результати чисельних експериментів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Сценарій: 20 замовлень, 3 ТЗ, радіус 10 км, м. Дніпро | 10 незалежних прогонів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8046720" cy="384048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Сер. час (хв)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Відхилення від 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Час виконання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27048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Найближчий сусід (NN)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636776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96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772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+35.9 %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Кларк-Райт (CW)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258568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75.2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1772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+14.8 %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70632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  <a:latin typeface="Calibri"/>
              </a:rPr>
              <a:t>2-op</a:t>
            </a:r>
            <a:r>
              <a:rPr lang="en-US" sz="1100" dirty="0">
                <a:solidFill>
                  <a:srgbClr val="1E293B"/>
                </a:solidFill>
                <a:latin typeface="Calibri"/>
              </a:rPr>
              <a:t>t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60604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81.1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1772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  <a:latin typeface="Calibri"/>
              </a:rPr>
              <a:t>+</a:t>
            </a:r>
            <a:r>
              <a:rPr lang="en-US" sz="1100" dirty="0">
                <a:solidFill>
                  <a:srgbClr val="1E293B"/>
                </a:solidFill>
                <a:latin typeface="Calibri"/>
              </a:rPr>
              <a:t>6.5</a:t>
            </a:r>
            <a:r>
              <a:rPr sz="1100" b="0" i="0" dirty="0">
                <a:solidFill>
                  <a:srgbClr val="1E293B"/>
                </a:solidFill>
                <a:latin typeface="Calibri"/>
              </a:rPr>
              <a:t>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1.8 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92424"/>
            <a:ext cx="8046720" cy="566928"/>
          </a:xfrm>
          <a:prstGeom prst="rect">
            <a:avLst/>
          </a:prstGeom>
          <a:solidFill>
            <a:srgbClr val="D1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502152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1E293B"/>
                </a:solidFill>
                <a:latin typeface="Calibri"/>
              </a:rPr>
              <a:t>Генетичний</a:t>
            </a:r>
            <a:r>
              <a:rPr sz="1100" b="1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1E293B"/>
                </a:solidFill>
                <a:latin typeface="Calibri"/>
              </a:rPr>
              <a:t>алгоритм</a:t>
            </a:r>
            <a:endParaRPr sz="1100" b="1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606040" y="3502152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libri"/>
              </a:rPr>
              <a:t>70.6</a:t>
            </a:r>
            <a:endParaRPr sz="1100" b="1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61772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—  (оптимум)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6.5 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62686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Calibri"/>
              </a:rPr>
              <a:t>GA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забезпечує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маршрути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6–36 %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коротші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класичні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евристики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прийнятному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часі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розрахунку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3090CDBF-4835-F473-9EB6-9F8C6ACAC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82880"/>
            <a:ext cx="8046720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Висновки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1498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99669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2412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Формалізовано транспортну мережу як мультимодальний зважений орієнтований граф G=(V, E, Φ, Ψ)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5506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3677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Розроблено математичну модель CVRPTW з обмеженнями місткості та часових вікон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9514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7685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7 UML-діаграм (прецеденти, класи, послідовності, діяльності, стани, ER, DFD)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3522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91693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94436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GA: популяція 50, 150 поколінь, OX crossover (85%), swap mutation (15%)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7530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55701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8444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Проведено тестування на реальних даних Дніпра: GA покращує маршрути на 6–36 % vs класичні методи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4453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14B8A6"/>
                </a:solidFill>
                <a:latin typeface="Calibri"/>
              </a:rPr>
              <a:t>Дякую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4B8A6"/>
                </a:solidFill>
                <a:latin typeface="Calibri"/>
              </a:rPr>
              <a:t>за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4B8A6"/>
                </a:solidFill>
                <a:latin typeface="Calibri"/>
              </a:rPr>
              <a:t>увагу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!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078F29-A7C2-B3E8-4117-BAA30B745EF3}"/>
              </a:ext>
            </a:extLst>
          </p:cNvPr>
          <p:cNvSpPr/>
          <p:nvPr/>
        </p:nvSpPr>
        <p:spPr>
          <a:xfrm>
            <a:off x="0" y="4289367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B269563-AC6F-0107-D199-F46A9E31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1055</Words>
  <Application>Microsoft Office PowerPoint</Application>
  <PresentationFormat>On-screen Show (16:9)</PresentationFormat>
  <Paragraphs>214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Nikolaiev, Tymur (LM Partnership - EPAM)</cp:lastModifiedBy>
  <cp:revision>87</cp:revision>
  <dcterms:created xsi:type="dcterms:W3CDTF">2013-01-27T09:14:16Z</dcterms:created>
  <dcterms:modified xsi:type="dcterms:W3CDTF">2026-06-06T13:09:30Z</dcterms:modified>
  <cp:category/>
</cp:coreProperties>
</file>