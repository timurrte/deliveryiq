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56" d="100"/>
          <a:sy n="156" d="100"/>
        </p:scale>
        <p:origin x="360" y="12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3977639"/>
            <a:ext cx="9144000" cy="36576"/>
          </a:xfrm>
          <a:prstGeom prst="rect">
            <a:avLst/>
          </a:prstGeom>
          <a:solidFill>
            <a:srgbClr val="1C7293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8046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Trebuchet MS"/>
              </a:rPr>
              <a:t>Розробка та програмна реалізація алгоритму
оптимізації розподілу вантажів у транспортній мережі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97180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4B8A6"/>
                </a:solidFill>
                <a:latin typeface="Calibri"/>
              </a:rPr>
              <a:t>Дипломна робота бакалавра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11480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  <a:latin typeface="Calibri"/>
              </a:rPr>
              <a:t>Студент: Ніколаєв Т. О.  |  Керівник: Зеленцов Д. Г.  |  Група: 4-КН-22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52628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УДУНТ · ННІ УДХТУ · Кафедра інформаційних систем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023360"/>
            <a:ext cx="9144000" cy="36576"/>
          </a:xfrm>
          <a:prstGeom prst="rect">
            <a:avLst/>
          </a:prstGeom>
          <a:solidFill>
            <a:srgbClr val="1C7293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Trebuchet MS"/>
              </a:rPr>
              <a:t>Об'єкт, предмет та мета роботи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8046720" cy="9601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097280"/>
            <a:ext cx="54864" cy="96012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737360" y="1161288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B1D3A"/>
                </a:solidFill>
                <a:latin typeface="Calibri"/>
              </a:rPr>
              <a:t>Об'єкт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508760"/>
            <a:ext cx="6675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E293B"/>
                </a:solidFill>
                <a:latin typeface="Calibri"/>
              </a:rPr>
              <a:t>Проблема розподілу та доставки вантажів у мультимодальній транспортній мережі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148839"/>
            <a:ext cx="8046720" cy="9601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40" y="2148839"/>
            <a:ext cx="54864" cy="96012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737360" y="2212847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B1D3A"/>
                </a:solidFill>
                <a:latin typeface="Calibri"/>
              </a:rPr>
              <a:t>Предмет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560320"/>
            <a:ext cx="6675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E293B"/>
                </a:solidFill>
                <a:latin typeface="Calibri"/>
              </a:rPr>
              <a:t>Математичні моделі та евристичні алгоритми маршрутизації транспортних засобів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200400"/>
            <a:ext cx="8046720" cy="9601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48640" y="3200400"/>
            <a:ext cx="54864" cy="96012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737360" y="3264408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B1D3A"/>
                </a:solidFill>
                <a:latin typeface="Calibri"/>
              </a:rPr>
              <a:t>Мета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3611880"/>
            <a:ext cx="6675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E293B"/>
                </a:solidFill>
                <a:latin typeface="Calibri"/>
              </a:rPr>
              <a:t>Розробка та програмна реалізація алгоритму оптимізації маршрутів доставки для мінімізації сумарного часу переїздів та кількості задіяних ТЗ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846320"/>
            <a:ext cx="2743200" cy="25603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8640" y="484632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Теорія графів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74720" y="4846320"/>
            <a:ext cx="2743200" cy="25603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474720" y="484632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Математичне моделювання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4846320"/>
            <a:ext cx="2743200" cy="25603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0" y="484632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Генетичні алгоритми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023360"/>
            <a:ext cx="9144000" cy="36576"/>
          </a:xfrm>
          <a:prstGeom prst="rect">
            <a:avLst/>
          </a:prstGeom>
          <a:solidFill>
            <a:srgbClr val="1C7293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Trebuchet MS"/>
              </a:rPr>
              <a:t>Актуальність дослідження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51560"/>
            <a:ext cx="2697480" cy="32004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051560"/>
            <a:ext cx="54864" cy="32004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124712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B1D3A"/>
                </a:solidFill>
                <a:latin typeface="Calibri"/>
              </a:rPr>
              <a:t>Економічна ефективність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35607"/>
            <a:ext cx="2514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Витрати на логістику — до 17% вартості доставки. Оптимізація маршрутів дає значну економію палива та ресурсів.</a:t>
            </a:r>
          </a:p>
        </p:txBody>
      </p:sp>
      <p:sp>
        <p:nvSpPr>
          <p:cNvPr id="9" name="Rectangle 8"/>
          <p:cNvSpPr/>
          <p:nvPr/>
        </p:nvSpPr>
        <p:spPr>
          <a:xfrm>
            <a:off x="3429000" y="1051560"/>
            <a:ext cx="2697480" cy="32004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429000" y="1051560"/>
            <a:ext cx="54864" cy="32004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566160" y="1124712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B1D3A"/>
                </a:solidFill>
                <a:latin typeface="Calibri"/>
              </a:rPr>
              <a:t>Динамічність середовища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1435607"/>
            <a:ext cx="2514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Часові вікна (VRPTW), обмеження вантажності, затори — потрібна адаптивна система в реальному часі.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59" y="1051560"/>
            <a:ext cx="2697480" cy="32004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309359" y="1051560"/>
            <a:ext cx="54864" cy="32004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46520" y="1124712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B1D3A"/>
                </a:solidFill>
                <a:latin typeface="Calibri"/>
              </a:rPr>
              <a:t>Алгоритмічне покращення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1435607"/>
            <a:ext cx="2514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Класичні евристики застрягають у локальних оптимумах. ГА ефективно досліджує простір NP-складних задач.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407408"/>
            <a:ext cx="8046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4748B"/>
                </a:solidFill>
                <a:latin typeface="Calibri"/>
              </a:rPr>
              <a:t>VRP — NP-складна задача: точне розв'язання неможливе за прийнятний час для реальних масштабів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023360"/>
            <a:ext cx="9144000" cy="36576"/>
          </a:xfrm>
          <a:prstGeom prst="rect">
            <a:avLst/>
          </a:prstGeom>
          <a:solidFill>
            <a:srgbClr val="1C7293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Trebuchet MS"/>
              </a:rPr>
              <a:t>Завдання роботи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51560"/>
            <a:ext cx="411480" cy="41148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69848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Trebuchet M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097280"/>
            <a:ext cx="74980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Calibri"/>
              </a:rPr>
              <a:t>Вивчити предметну область, структуру та принципи функціонування об'єкта дослідження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737360"/>
            <a:ext cx="411480" cy="41148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1755648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Trebuchet MS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83080"/>
            <a:ext cx="74980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Calibri"/>
              </a:rPr>
              <a:t>Провести аналіз сучасних підходів та аналогів програмних продуктів для задач маршрутизації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423160"/>
            <a:ext cx="411480" cy="41148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2441448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Trebuchet MS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468879"/>
            <a:ext cx="74980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Calibri"/>
              </a:rPr>
              <a:t>Формалізувати транспортну мережу як мультимодальний зважений орієнтований граф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108960"/>
            <a:ext cx="411480" cy="41148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48640" y="3127248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Trebuchet MS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154679"/>
            <a:ext cx="74980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Calibri"/>
              </a:rPr>
              <a:t>Розробити математичну модель задачі CVRPTW з обмеженнями місткості та часових вікон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794760"/>
            <a:ext cx="411480" cy="41148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8640" y="3813048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Trebuchet MS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40480"/>
            <a:ext cx="74980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Calibri"/>
              </a:rPr>
              <a:t>Реалізувати програмний модуль та провести тестування на реальних географічних даних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572000"/>
            <a:ext cx="8046720" cy="292608"/>
          </a:xfrm>
          <a:prstGeom prst="rect">
            <a:avLst/>
          </a:prstGeom>
          <a:solidFill>
            <a:srgbClr val="1C7293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85800" y="4572000"/>
            <a:ext cx="7863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FFFFFF"/>
                </a:solidFill>
                <a:latin typeface="Calibri"/>
              </a:rPr>
              <a:t>Практичне значення: автоматизована побудова маршрутів → скорочення витрат та підвищення якості обслуговування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023360"/>
            <a:ext cx="9144000" cy="36576"/>
          </a:xfrm>
          <a:prstGeom prst="rect">
            <a:avLst/>
          </a:prstGeom>
          <a:solidFill>
            <a:srgbClr val="1C7293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Trebuchet MS"/>
              </a:rPr>
              <a:t>Математична постановка задачі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05840"/>
            <a:ext cx="8046720" cy="50292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033271"/>
            <a:ext cx="7772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Цільова функція:  F = A · T_total + B · K  —  мінімізація часу переїздів та кількості задіяних ТЗ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Обмеження моделі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057400"/>
            <a:ext cx="347472" cy="34747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205740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Trebuchet M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05740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Місткість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2057400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1F5F9"/>
                </a:solidFill>
                <a:latin typeface="Calibri"/>
              </a:rPr>
              <a:t>Сумарна вага вантажів у кожному ТЗ ≤ ліміт Q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697480"/>
            <a:ext cx="347472" cy="34747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269748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Trebuchet M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69748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Часові вікна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2697480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1F5F9"/>
                </a:solidFill>
                <a:latin typeface="Calibri"/>
              </a:rPr>
              <a:t>Прибуття у вузол i в межах [eᵢ, lᵢ]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337560"/>
            <a:ext cx="347472" cy="34747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8640" y="333756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Trebuchet M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333756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Зв'язність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3337560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1F5F9"/>
                </a:solidFill>
                <a:latin typeface="Calibri"/>
              </a:rPr>
              <a:t>Кожен клієнт відвіданий рівно один раз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977639"/>
            <a:ext cx="347472" cy="34747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48640" y="3977639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Trebuchet M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3977639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Мережа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3977639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1F5F9"/>
                </a:solidFill>
                <a:latin typeface="Calibri"/>
              </a:rPr>
              <a:t>Мультимодальний зважений орієнтований граф G=(V, E, Φ, Ψ)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023360"/>
            <a:ext cx="9144000" cy="36576"/>
          </a:xfrm>
          <a:prstGeom prst="rect">
            <a:avLst/>
          </a:prstGeom>
          <a:solidFill>
            <a:srgbClr val="1C7293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Trebuchet MS"/>
              </a:rPr>
              <a:t>Проєктування системи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ООП (Python) · CASE-засіб PlantUML · Стандарти UML 2.5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43000"/>
            <a:ext cx="4114800" cy="9601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1143000"/>
            <a:ext cx="54864" cy="96012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207008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B1D3A"/>
                </a:solidFill>
                <a:latin typeface="Calibri"/>
              </a:rPr>
              <a:t>Діаграма прецедентів (Use Case)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572768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Функціональна модель — бізнес-сценарії та межа системи (4 групи прецедентів)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46320" y="1143000"/>
            <a:ext cx="4114800" cy="9601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846320" y="1143000"/>
            <a:ext cx="54864" cy="960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983480" y="1207008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B1D3A"/>
                </a:solidFill>
                <a:latin typeface="Calibri"/>
              </a:rPr>
              <a:t>Діаграма класів (2 шт.)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83480" y="1572768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Статична структура: сутності предметної області та модульна архітектура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240280"/>
            <a:ext cx="4114800" cy="9601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48640" y="2240280"/>
            <a:ext cx="54864" cy="96012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2304288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B1D3A"/>
                </a:solidFill>
                <a:latin typeface="Calibri"/>
              </a:rPr>
              <a:t>Діаграми послідовностей (3 шт.)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2670048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Геокодування, TSP-оптимізація, CVRPTW-оптимізація (GA-центрична стратегія)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2240280"/>
            <a:ext cx="4114800" cy="9601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846320" y="2240280"/>
            <a:ext cx="54864" cy="960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983480" y="2304288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B1D3A"/>
                </a:solidFill>
                <a:latin typeface="Calibri"/>
              </a:rPr>
              <a:t>Діаграма діяльності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83480" y="2670048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Наскрізний процес: підготовка → паралельне рішення → синтез результатів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3337560"/>
            <a:ext cx="4114800" cy="9601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48640" y="3337560"/>
            <a:ext cx="54864" cy="96012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85800" y="3401568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B1D3A"/>
                </a:solidFill>
                <a:latin typeface="Calibri"/>
              </a:rPr>
              <a:t>Діаграма станів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3767328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Життєвий цикл пакунку: PENDING → IN_TRANSIT → DELIVERED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3337560"/>
            <a:ext cx="4114800" cy="9601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846320" y="3337560"/>
            <a:ext cx="54864" cy="960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983480" y="3401568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B1D3A"/>
                </a:solidFill>
                <a:latin typeface="Calibri"/>
              </a:rPr>
              <a:t>ER-діаграма + DFD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83480" y="3767328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Інформаційна модель: реляційна схема та потоки даних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846320"/>
            <a:ext cx="1572768" cy="25603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48640" y="4846320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Python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304288" y="4846320"/>
            <a:ext cx="1572768" cy="25603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304288" y="4846320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Streamlit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59935" y="4846320"/>
            <a:ext cx="1572768" cy="25603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059935" y="4846320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OSMnx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815583" y="4846320"/>
            <a:ext cx="1572768" cy="25603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815583" y="4846320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PlantUML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571231" y="4846320"/>
            <a:ext cx="1572768" cy="25603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571231" y="4846320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Nominatim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023360"/>
            <a:ext cx="9144000" cy="36576"/>
          </a:xfrm>
          <a:prstGeom prst="rect">
            <a:avLst/>
          </a:prstGeom>
          <a:solidFill>
            <a:srgbClr val="1C7293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Trebuchet MS"/>
              </a:rPr>
              <a:t>Архітектура системи DeliveryIQ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97280"/>
            <a:ext cx="2743200" cy="1600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1097280"/>
            <a:ext cx="54864" cy="16002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188720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1D3A"/>
                </a:solidFill>
                <a:latin typeface="Calibri"/>
              </a:rPr>
              <a:t>Streamlit UI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53619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4B8A6"/>
                </a:solidFill>
                <a:latin typeface="Calibri"/>
              </a:rPr>
              <a:t>app.py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246888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Центральний контролер, сесійний стан, вкладки TSP / VRP / DB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29000" y="1097280"/>
            <a:ext cx="2743200" cy="1600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429000" y="1097280"/>
            <a:ext cx="54864" cy="16002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66160" y="1188720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1D3A"/>
                </a:solidFill>
                <a:latin typeface="Calibri"/>
              </a:rPr>
              <a:t>GraphBuilder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153619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4B8A6"/>
                </a:solidFill>
                <a:latin typeface="Calibri"/>
              </a:rPr>
              <a:t>graph_builder.py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1828800"/>
            <a:ext cx="246888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OSMnx-мережа, 3 модальні копії, матриця Дейкстри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55080" y="1097280"/>
            <a:ext cx="2743200" cy="1600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355080" y="1097280"/>
            <a:ext cx="54864" cy="16002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92240" y="1188720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1D3A"/>
                </a:solidFill>
                <a:latin typeface="Calibri"/>
              </a:rPr>
              <a:t>VRPSolver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53619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4B8A6"/>
                </a:solidFill>
                <a:latin typeface="Calibri"/>
              </a:rPr>
              <a:t>vrp_solver.py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1828800"/>
            <a:ext cx="246888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CVRPTW: двофазовий GA-декодер, split-алгоритм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834639"/>
            <a:ext cx="2743200" cy="1600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02920" y="2834639"/>
            <a:ext cx="54864" cy="160020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" y="2926079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1D3A"/>
                </a:solidFill>
                <a:latin typeface="Calibri"/>
              </a:rPr>
              <a:t>RouteSolver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273551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4B8A6"/>
                </a:solidFill>
                <a:latin typeface="Calibri"/>
              </a:rPr>
              <a:t>route_solver.py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3566159"/>
            <a:ext cx="246888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TSP: NN / 2-opt / GA / Christofides, авто-вибір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29000" y="2834639"/>
            <a:ext cx="2743200" cy="1600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3429000" y="2834639"/>
            <a:ext cx="54864" cy="160020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566160" y="2926079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1D3A"/>
                </a:solidFill>
                <a:latin typeface="Calibri"/>
              </a:rPr>
              <a:t>PackageDB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0" y="3273551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4B8A6"/>
                </a:solidFill>
                <a:latin typeface="Calibri"/>
              </a:rPr>
              <a:t>package_db.py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566159"/>
            <a:ext cx="246888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SQLite: пакунки, статуси, CRUD-методи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55080" y="2834639"/>
            <a:ext cx="2743200" cy="1600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355080" y="2834639"/>
            <a:ext cx="54864" cy="160020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492240" y="2926079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1D3A"/>
                </a:solidFill>
                <a:latin typeface="Calibri"/>
              </a:rPr>
              <a:t>Visualizer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3273551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4B8A6"/>
                </a:solidFill>
                <a:latin typeface="Calibri"/>
              </a:rPr>
              <a:t>visualizer.py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92240" y="3566159"/>
            <a:ext cx="246888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Folium + AntPath: анімовані маршрути на карті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023360"/>
            <a:ext cx="9144000" cy="36576"/>
          </a:xfrm>
          <a:prstGeom prst="rect">
            <a:avLst/>
          </a:prstGeom>
          <a:solidFill>
            <a:srgbClr val="1C7293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Trebuchet MS"/>
              </a:rPr>
              <a:t>Генетичний алгоритм: CVRPTW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51560"/>
            <a:ext cx="4114800" cy="10515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051560"/>
            <a:ext cx="411480" cy="1051560"/>
          </a:xfrm>
          <a:prstGeom prst="rect">
            <a:avLst/>
          </a:prstGeom>
          <a:solidFill>
            <a:srgbClr val="0B1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307592"/>
            <a:ext cx="411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Trebuchet M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115568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B1D3A"/>
                </a:solidFill>
                <a:latin typeface="Calibri"/>
              </a:rPr>
              <a:t>Ініціалізація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508760"/>
            <a:ext cx="3474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50 хромосом: 1 жадібна (найбл. сусід) + 49 випадкових. Кодування: giant tour.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46320" y="1051560"/>
            <a:ext cx="4114800" cy="10515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846320" y="1051560"/>
            <a:ext cx="411480" cy="1051560"/>
          </a:xfrm>
          <a:prstGeom prst="rect">
            <a:avLst/>
          </a:prstGeom>
          <a:solidFill>
            <a:srgbClr val="0B1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846320" y="1307592"/>
            <a:ext cx="411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Trebuchet M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9240" y="1115568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B1D3A"/>
                </a:solidFill>
                <a:latin typeface="Calibri"/>
              </a:rPr>
              <a:t>Декодування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1508760"/>
            <a:ext cx="3474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Split-декодер: хромосома → маршрути ТЗ з перевіркою вантажності та режимів.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240280"/>
            <a:ext cx="4114800" cy="10515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48640" y="2240280"/>
            <a:ext cx="411480" cy="1051560"/>
          </a:xfrm>
          <a:prstGeom prst="rect">
            <a:avLst/>
          </a:prstGeom>
          <a:solidFill>
            <a:srgbClr val="0B1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8640" y="2496312"/>
            <a:ext cx="411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Trebuchet M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2304288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B1D3A"/>
                </a:solidFill>
                <a:latin typeface="Calibri"/>
              </a:rPr>
              <a:t>Fitness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2697480"/>
            <a:ext cx="3474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F = A·T_total + B·K + P·|U|  — штраф за нерозподілених клієнтів.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46320" y="2240280"/>
            <a:ext cx="4114800" cy="10515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846320" y="2240280"/>
            <a:ext cx="411480" cy="1051560"/>
          </a:xfrm>
          <a:prstGeom prst="rect">
            <a:avLst/>
          </a:prstGeom>
          <a:solidFill>
            <a:srgbClr val="0B1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846320" y="2496312"/>
            <a:ext cx="411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Trebuchet MS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49240" y="2304288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B1D3A"/>
                </a:solidFill>
                <a:latin typeface="Calibri"/>
              </a:rPr>
              <a:t>Селекція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49240" y="2697480"/>
            <a:ext cx="3474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Турнірний відбір (k=3) + елітизм (2 найкращі без змін).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429000"/>
            <a:ext cx="4114800" cy="10515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48640" y="3429000"/>
            <a:ext cx="411480" cy="1051560"/>
          </a:xfrm>
          <a:prstGeom prst="rect">
            <a:avLst/>
          </a:prstGeom>
          <a:solidFill>
            <a:srgbClr val="0B1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48640" y="3685032"/>
            <a:ext cx="411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Trebuchet M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3493008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B1D3A"/>
                </a:solidFill>
                <a:latin typeface="Calibri"/>
              </a:rPr>
              <a:t>Схрещування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3886200"/>
            <a:ext cx="3474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OX crossover (85%): сегмент від батька 1, решта — від батька 2 по порядку.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429000"/>
            <a:ext cx="4114800" cy="10515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4846320" y="3429000"/>
            <a:ext cx="411480" cy="1051560"/>
          </a:xfrm>
          <a:prstGeom prst="rect">
            <a:avLst/>
          </a:prstGeom>
          <a:solidFill>
            <a:srgbClr val="0B1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846320" y="3685032"/>
            <a:ext cx="411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Trebuchet MS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49240" y="3493008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B1D3A"/>
                </a:solidFill>
                <a:latin typeface="Calibri"/>
              </a:rPr>
              <a:t>Мутація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49240" y="3886200"/>
            <a:ext cx="3474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Swap mutation (15%): обмін двох випадкових генів для підтримки різноманіття.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4645152"/>
            <a:ext cx="8046720" cy="292608"/>
          </a:xfrm>
          <a:prstGeom prst="rect">
            <a:avLst/>
          </a:prstGeom>
          <a:solidFill>
            <a:srgbClr val="1C7293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85800" y="4654296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150 поколінь → найкраща хромосома → реконструкція маршрутів → візуалізація на карті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023360"/>
            <a:ext cx="9144000" cy="36576"/>
          </a:xfrm>
          <a:prstGeom prst="rect">
            <a:avLst/>
          </a:prstGeom>
          <a:solidFill>
            <a:srgbClr val="1C7293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Trebuchet MS"/>
              </a:rPr>
              <a:t>Інформаційне забезпечення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51560"/>
            <a:ext cx="5029200" cy="84124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051560"/>
            <a:ext cx="54864" cy="84124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1106424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B1D3A"/>
                </a:solidFill>
                <a:latin typeface="Calibri"/>
              </a:rPr>
              <a:t>Транспортна мережа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453895"/>
            <a:ext cx="4754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Матриці відстаней та часових витрат між вузлами графа (drive / bike / walk)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5029200" cy="84124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40" y="2011680"/>
            <a:ext cx="54864" cy="84124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13232" y="2066544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B1D3A"/>
                </a:solidFill>
                <a:latin typeface="Calibri"/>
              </a:rPr>
              <a:t>Транспортні засоби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414016"/>
            <a:ext cx="4754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Місткість, режим руху, швидкість, графік роботи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971800"/>
            <a:ext cx="5029200" cy="84124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48640" y="2971800"/>
            <a:ext cx="54864" cy="84124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13232" y="3026664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B1D3A"/>
                </a:solidFill>
                <a:latin typeface="Calibri"/>
              </a:rPr>
              <a:t>Замовлення / Пакунки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3374136"/>
            <a:ext cx="4754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Адреса, вага вантажу, координати, часові вікна клієнтів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931920"/>
            <a:ext cx="5029200" cy="84124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48640" y="3931920"/>
            <a:ext cx="54864" cy="84124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13232" y="3986784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B1D3A"/>
                </a:solidFill>
                <a:latin typeface="Calibri"/>
              </a:rPr>
              <a:t>Зберігання даних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4334256"/>
            <a:ext cx="4754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SQLite (пакунки), GraphML-кеш (OSM-мережі), JSON/CSV (обмін)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852160" y="1051560"/>
            <a:ext cx="2926080" cy="35204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989320" y="109728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B1D3A"/>
                </a:solidFill>
                <a:latin typeface="Calibri"/>
              </a:rPr>
              <a:t>Стани пакунку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89320" y="1572768"/>
            <a:ext cx="2606040" cy="59436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080760" y="1609344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PENDING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0760" y="1892807"/>
            <a:ext cx="2423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Очікує відправлення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2194560"/>
            <a:ext cx="548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▼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89320" y="2377440"/>
            <a:ext cx="2606040" cy="59436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80760" y="2414016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IN_TRANSIT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80760" y="2697480"/>
            <a:ext cx="2423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Виконання доставки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2999232"/>
            <a:ext cx="548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▼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89320" y="3182112"/>
            <a:ext cx="2606040" cy="594360"/>
          </a:xfrm>
          <a:prstGeom prst="rect">
            <a:avLst/>
          </a:prstGeom>
          <a:solidFill>
            <a:srgbClr val="0B1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80760" y="3218688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DELIVERED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80760" y="3502152"/>
            <a:ext cx="2423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Термінальний стан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846320"/>
            <a:ext cx="1572768" cy="25603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48640" y="4846320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Python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304288" y="4846320"/>
            <a:ext cx="1572768" cy="25603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304288" y="4846320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Streamlit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059935" y="4846320"/>
            <a:ext cx="1572768" cy="25603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059935" y="4846320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OSMnx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815583" y="4846320"/>
            <a:ext cx="1572768" cy="25603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815583" y="4846320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Nominatim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71231" y="4846320"/>
            <a:ext cx="1572768" cy="25603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571231" y="4846320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JSON/CSV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023360"/>
            <a:ext cx="9144000" cy="36576"/>
          </a:xfrm>
          <a:prstGeom prst="rect">
            <a:avLst/>
          </a:prstGeom>
          <a:solidFill>
            <a:srgbClr val="1C7293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Trebuchet MS"/>
              </a:rPr>
              <a:t>Програмна реалізація та тестування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05840"/>
            <a:ext cx="8046720" cy="502920"/>
          </a:xfrm>
          <a:prstGeom prst="rect">
            <a:avLst/>
          </a:prstGeom>
          <a:solidFill>
            <a:srgbClr val="1C7293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042415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Мова: Python 3.12  |  Фреймворк: Streamlit  |  Веб-застосунок, без встановлення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45920"/>
            <a:ext cx="8046720" cy="6217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645920"/>
            <a:ext cx="54864" cy="62179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13232" y="1700784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B1D3A"/>
                </a:solidFill>
                <a:latin typeface="Calibri"/>
              </a:rPr>
              <a:t>Модульне тестування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1737360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Критичні утилітарні функції: кодування координат, зчитування матриці, перевірка часових вікон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359152"/>
            <a:ext cx="8046720" cy="6217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2359152"/>
            <a:ext cx="54864" cy="62179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13232" y="2414016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B1D3A"/>
                </a:solidFill>
                <a:latin typeface="Calibri"/>
              </a:rPr>
              <a:t>Інтеграційне тестування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450592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Повний цикл TSP + VRP на реальних адресах м. Дніпро. Сценарії 5–50 замовлень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072384"/>
            <a:ext cx="8046720" cy="6217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48640" y="3072384"/>
            <a:ext cx="54864" cy="62179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13232" y="312724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B1D3A"/>
                </a:solidFill>
                <a:latin typeface="Calibri"/>
              </a:rPr>
              <a:t>Функціональне тестування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3163824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Відповідність діаграмі прецедентів та математичній моделі CVRPTW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785615"/>
            <a:ext cx="8046720" cy="6217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48640" y="3785615"/>
            <a:ext cx="54864" cy="62179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13232" y="3840479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B1D3A"/>
                </a:solidFill>
                <a:latin typeface="Calibri"/>
              </a:rPr>
              <a:t>Порівняльний бенчмарк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3877055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GA vs NN / Кларк-Райт / 2-opt: 10 незалежних прогонів на сценарії №3 (20 зам., 3 ТЗ)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023360"/>
            <a:ext cx="9144000" cy="36576"/>
          </a:xfrm>
          <a:prstGeom prst="rect">
            <a:avLst/>
          </a:prstGeom>
          <a:solidFill>
            <a:srgbClr val="1C7293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Trebuchet MS"/>
              </a:rPr>
              <a:t>Результати чисельних експериментів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4748B"/>
                </a:solidFill>
                <a:latin typeface="Calibri"/>
              </a:rPr>
              <a:t>Сценарій: 20 замовлень, 3 ТЗ, радіус 10 км, м. Дніпро | 10 незалежних прогонів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43000"/>
            <a:ext cx="8046720" cy="384048"/>
          </a:xfrm>
          <a:prstGeom prst="rect">
            <a:avLst/>
          </a:prstGeom>
          <a:solidFill>
            <a:srgbClr val="0B1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1170432"/>
            <a:ext cx="1920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Метод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6040" y="1170432"/>
            <a:ext cx="1920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Сер. час (хв)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7720" y="1170432"/>
            <a:ext cx="1920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Відхилення від GA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1170432"/>
            <a:ext cx="1920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Час виконання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527048"/>
            <a:ext cx="8046720" cy="56692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4360" y="1636776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E293B"/>
                </a:solidFill>
                <a:latin typeface="Calibri"/>
              </a:rPr>
              <a:t>Найближчий сусід (NN)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1636776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E293B"/>
                </a:solidFill>
                <a:latin typeface="Calibri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1636776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E293B"/>
                </a:solidFill>
                <a:latin typeface="Calibri"/>
              </a:rPr>
              <a:t>+35.9 %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1636776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E293B"/>
                </a:solidFill>
                <a:latin typeface="Calibri"/>
              </a:rPr>
              <a:t>0.4 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148840"/>
            <a:ext cx="8046720" cy="56692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94360" y="2258568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E293B"/>
                </a:solidFill>
                <a:latin typeface="Calibri"/>
              </a:rPr>
              <a:t>Кларк-Райт (CW)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06040" y="2258568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E293B"/>
                </a:solidFill>
                <a:latin typeface="Calibri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2258568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E293B"/>
                </a:solidFill>
                <a:latin typeface="Calibri"/>
              </a:rPr>
              <a:t>+14.8 %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2258568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E293B"/>
                </a:solidFill>
                <a:latin typeface="Calibri"/>
              </a:rPr>
              <a:t>0.4 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2770632"/>
            <a:ext cx="8046720" cy="56692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94360" y="2880360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E293B"/>
                </a:solidFill>
                <a:latin typeface="Calibri"/>
              </a:rPr>
              <a:t>2-opt + NN-старт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06040" y="2880360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E293B"/>
                </a:solidFill>
                <a:latin typeface="Calibri"/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7720" y="2880360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E293B"/>
                </a:solidFill>
                <a:latin typeface="Calibri"/>
              </a:rPr>
              <a:t>+7.2 %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2880360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E293B"/>
                </a:solidFill>
                <a:latin typeface="Calibri"/>
              </a:rPr>
              <a:t>1.8 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3392424"/>
            <a:ext cx="8046720" cy="566928"/>
          </a:xfrm>
          <a:prstGeom prst="rect">
            <a:avLst/>
          </a:prstGeom>
          <a:solidFill>
            <a:srgbClr val="D1F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94360" y="3502152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E293B"/>
                </a:solidFill>
                <a:latin typeface="Calibri"/>
              </a:rPr>
              <a:t>Генетичний алгоритм 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06040" y="3502152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E293B"/>
                </a:solidFill>
                <a:latin typeface="Calibri"/>
              </a:rPr>
              <a:t>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17720" y="3502152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E293B"/>
                </a:solidFill>
                <a:latin typeface="Calibri"/>
              </a:rPr>
              <a:t>—  (оптимум)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3502152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4B8A6"/>
                </a:solidFill>
                <a:latin typeface="Calibri"/>
              </a:rPr>
              <a:t>6.5 с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4617720"/>
            <a:ext cx="8046720" cy="32004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85800" y="4626864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GA забезпечує маршрути на 6–36 % коротші за класичні евристики при прийнятному часі розрахунку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182880"/>
            <a:ext cx="8046720" cy="64008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22860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Trebuchet MS"/>
              </a:rPr>
              <a:t>Висновки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14984"/>
            <a:ext cx="292608" cy="29260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996696"/>
            <a:ext cx="2926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024128"/>
            <a:ext cx="7498079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Формалізовано транспортну мережу як мультимодальний зважений орієнтований граф G=(V, E, Φ, Ψ)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55064"/>
            <a:ext cx="292608" cy="29260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1636776"/>
            <a:ext cx="2926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1664208"/>
            <a:ext cx="7498079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Розроблено математичну модель CVRPTW з обмеженнями місткості та часових вікон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295144"/>
            <a:ext cx="292608" cy="29260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2276856"/>
            <a:ext cx="2926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304288"/>
            <a:ext cx="7498079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Реалізовано 7 UML-діаграм (прецеденти, класи, послідовності, діяльності, стани, ER, DFD)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935223"/>
            <a:ext cx="292608" cy="29260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48640" y="2916935"/>
            <a:ext cx="2926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2944367"/>
            <a:ext cx="7498079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Реалізовано GA: популяція 50, 150 поколінь, OX crossover (85%), swap mutation (15%)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575303"/>
            <a:ext cx="292608" cy="29260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8640" y="3557015"/>
            <a:ext cx="2926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584447"/>
            <a:ext cx="7498079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Проведено тестування на реальних даних Дніпра: GA покращує маршрути на 6–36 % vs класичні методи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215383"/>
            <a:ext cx="292608" cy="29260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48640" y="4197096"/>
            <a:ext cx="2926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4224528"/>
            <a:ext cx="7498079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Робота посіла 2-ге місце на І турі Всеукраїнського конкурсу студентських наукових робіт 2025–2026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75488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4B8A6"/>
                </a:solidFill>
                <a:latin typeface="Calibri"/>
              </a:rPr>
              <a:t>Дякую за увагу!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984</Words>
  <Application>Microsoft Macintosh PowerPoint</Application>
  <PresentationFormat>On-screen Show (16:9)</PresentationFormat>
  <Paragraphs>177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Tymur Nikolaiev</cp:lastModifiedBy>
  <cp:revision>1</cp:revision>
  <dcterms:created xsi:type="dcterms:W3CDTF">2013-01-27T09:14:16Z</dcterms:created>
  <dcterms:modified xsi:type="dcterms:W3CDTF">2026-05-31T15:51:26Z</dcterms:modified>
  <cp:category/>
</cp:coreProperties>
</file>